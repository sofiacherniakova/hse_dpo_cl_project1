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84" r:id="rId11"/>
    <p:sldId id="264" r:id="rId12"/>
    <p:sldId id="267" r:id="rId13"/>
    <p:sldId id="268" r:id="rId14"/>
    <p:sldId id="266" r:id="rId15"/>
    <p:sldId id="285" r:id="rId16"/>
    <p:sldId id="272" r:id="rId17"/>
    <p:sldId id="275" r:id="rId18"/>
    <p:sldId id="277" r:id="rId19"/>
    <p:sldId id="276" r:id="rId20"/>
    <p:sldId id="278" r:id="rId21"/>
    <p:sldId id="279" r:id="rId22"/>
    <p:sldId id="286" r:id="rId23"/>
    <p:sldId id="287" r:id="rId24"/>
    <p:sldId id="280" r:id="rId25"/>
    <p:sldId id="282" r:id="rId26"/>
    <p:sldId id="283" r:id="rId27"/>
    <p:sldId id="289" r:id="rId28"/>
    <p:sldId id="290" r:id="rId29"/>
    <p:sldId id="291" r:id="rId30"/>
    <p:sldId id="292" r:id="rId31"/>
    <p:sldId id="302" r:id="rId32"/>
    <p:sldId id="293" r:id="rId33"/>
    <p:sldId id="294" r:id="rId34"/>
    <p:sldId id="295" r:id="rId35"/>
    <p:sldId id="296" r:id="rId36"/>
    <p:sldId id="297" r:id="rId37"/>
    <p:sldId id="298" r:id="rId38"/>
    <p:sldId id="301" r:id="rId39"/>
    <p:sldId id="30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74"/>
  </p:normalViewPr>
  <p:slideViewPr>
    <p:cSldViewPr snapToGrid="0">
      <p:cViewPr varScale="1">
        <p:scale>
          <a:sx n="105" d="100"/>
          <a:sy n="105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3983E-3EFD-ED4F-B405-51826C9C5C88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7D6A4-6BEC-A04C-80EA-FFFE8137CB5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843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7D6A4-6BEC-A04C-80EA-FFFE8137CB59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7032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68788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0545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2514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4957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18530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1900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27935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26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8877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8399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9655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448B747-0D3C-2F43-82CB-A62328FCDDD9}" type="datetimeFigureOut">
              <a:rPr lang="en-RU" smtClean="0"/>
              <a:t>26.02.2026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5A9411C-3F8E-1442-8E32-9E59D7CD39F0}" type="slidenum">
              <a:rPr lang="en-RU" smtClean="0"/>
              <a:t>‹#›</a:t>
            </a:fld>
            <a:endParaRPr lang="en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5046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vk.com/wall-83415396_55203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vk.com/@rodzvuk-kak-popast-v-rodnoi-zvuk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vk.com/wall-222935597_245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vk.com/wall-16325867_24050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1044E-C3B0-DC15-C3EB-EE88276A74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dirty="0">
                <a:effectLst/>
                <a:latin typeface="Helvetica Neue" panose="02000503000000020004" pitchFamily="2" charset="0"/>
              </a:rPr>
              <a:t>Дискурсивные практики описания музыкальных релизов: анализ на материале публикаций тематических групп ВКонтакте.</a:t>
            </a:r>
            <a:endParaRPr lang="en-RU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DA2CA-7CEF-9687-965D-1899851178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ДПО «Компьютерная Лингвистика» </a:t>
            </a:r>
          </a:p>
          <a:p>
            <a:r>
              <a:rPr lang="ru-RU" dirty="0"/>
              <a:t>выполнила Чернякова Софья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6722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3351-12AB-4478-FFCC-E46EE42E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музыкальном дискурсе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DD290-1E2F-8586-41CB-B1F15205D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/>
          <a:lstStyle/>
          <a:p>
            <a:r>
              <a:rPr lang="ru-RU" dirty="0"/>
              <a:t>Музыкальный дискурс рассматривается как «социальная практика и категория, включающая специфические способы репрезентации различных аспектов музыкальной жизни» </a:t>
            </a:r>
            <a:r>
              <a:rPr lang="en-US" i="1" dirty="0"/>
              <a:t>(</a:t>
            </a:r>
            <a:r>
              <a:rPr lang="en-US" i="1" dirty="0" err="1"/>
              <a:t>Aleshinskaya</a:t>
            </a:r>
            <a:r>
              <a:rPr lang="en-US" i="1" dirty="0"/>
              <a:t>, 2013).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23947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9E4B-F117-1A9B-98E8-A43388BC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85A32A-0536-6AE4-F1A3-3CEA162F3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8800" y="134513"/>
            <a:ext cx="6540500" cy="638696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760A46-9084-67BA-3126-79E96975B666}"/>
              </a:ext>
            </a:extLst>
          </p:cNvPr>
          <p:cNvSpPr txBox="1"/>
          <p:nvPr/>
        </p:nvSpPr>
        <p:spPr>
          <a:xfrm>
            <a:off x="1219200" y="6553200"/>
            <a:ext cx="46891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General view of musical discourse (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Aleshinskaya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E., 2013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p. 427)</a:t>
            </a:r>
            <a:endParaRPr lang="ru-RU" sz="1200" b="0" i="0" u="none" strike="noStrike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85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3351-12AB-4478-FFCC-E46EE42E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музыкальном дискурсе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DD290-1E2F-8586-41CB-B1F15205D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702800" cy="4533900"/>
          </a:xfrm>
        </p:spPr>
        <p:txBody>
          <a:bodyPr>
            <a:normAutofit/>
          </a:bodyPr>
          <a:lstStyle/>
          <a:p>
            <a:r>
              <a:rPr lang="ru-RU" dirty="0"/>
              <a:t>Музыкальный дискурс рассматривается как «социальная практика и категория, включающая специфические способы репрезентации различных аспектов музыкальной жизни» </a:t>
            </a:r>
            <a:r>
              <a:rPr lang="en-US" i="1" dirty="0"/>
              <a:t>(</a:t>
            </a:r>
            <a:r>
              <a:rPr lang="en-US" i="1" dirty="0" err="1"/>
              <a:t>Aleshinskaya</a:t>
            </a:r>
            <a:r>
              <a:rPr lang="en-US" i="1" dirty="0"/>
              <a:t>, 2013).</a:t>
            </a:r>
            <a:endParaRPr lang="ru-RU" i="1" dirty="0"/>
          </a:p>
          <a:p>
            <a:r>
              <a:rPr lang="ru-RU" dirty="0"/>
              <a:t>Проект фокусируется не на «песенном дискурсе» – «изучение только текстов песен в экстралингвистических условиях»</a:t>
            </a:r>
            <a:r>
              <a:rPr lang="en-US" dirty="0"/>
              <a:t> </a:t>
            </a:r>
            <a:r>
              <a:rPr lang="en-US" i="1" dirty="0"/>
              <a:t>(</a:t>
            </a:r>
            <a:r>
              <a:rPr lang="ru-RU" i="1" dirty="0"/>
              <a:t>Янченко, 2019</a:t>
            </a:r>
            <a:r>
              <a:rPr lang="en-US" i="1" dirty="0"/>
              <a:t>)</a:t>
            </a:r>
            <a:r>
              <a:rPr lang="ru-RU" dirty="0"/>
              <a:t>, а на том, как о музыке говорят.</a:t>
            </a:r>
          </a:p>
          <a:p>
            <a:r>
              <a:rPr lang="ru-RU" dirty="0"/>
              <a:t>Тексты, анализируемые в данном проекте, находятся на стыке двух этапов «жизни музыкального продукта» – дистрибуции и восприятия/оценивания.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ru-RU" b="1" dirty="0"/>
              <a:t>Цель проекта </a:t>
            </a:r>
            <a:r>
              <a:rPr lang="ru-RU" dirty="0"/>
              <a:t>– применение методов компьютерной лингвистики для исследования дискурсивных практик репрезентации новых музыкальных релизов в онлайн-публикациях, как менее изученного сегмента музыкального дискурса.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B9096-6674-0544-6D6D-BB21773C19DC}"/>
              </a:ext>
            </a:extLst>
          </p:cNvPr>
          <p:cNvSpPr txBox="1"/>
          <p:nvPr/>
        </p:nvSpPr>
        <p:spPr>
          <a:xfrm>
            <a:off x="1117600" y="6172200"/>
            <a:ext cx="1038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Aleshinskaya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 (2013). Key components of musical discourse analysis.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Research in language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11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423-444.</a:t>
            </a:r>
            <a:endParaRPr lang="ru-RU" sz="1200" b="0" i="0" u="none" strike="noStrike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ru-RU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Янченко, Я. М. (2019). Лингвистический аспект исследований песенного дискурса: актуальность и многоаспектность. </a:t>
            </a:r>
            <a:r>
              <a:rPr lang="ru-RU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Мир науки. Социология, филология, культурология</a:t>
            </a:r>
            <a:r>
              <a:rPr lang="ru-RU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ru-RU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10</a:t>
            </a:r>
            <a:r>
              <a:rPr lang="ru-RU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28-28.</a:t>
            </a:r>
            <a:endParaRPr lang="en-RU" sz="1200" dirty="0"/>
          </a:p>
        </p:txBody>
      </p:sp>
    </p:spTree>
    <p:extLst>
      <p:ext uri="{BB962C8B-B14F-4D97-AF65-F5344CB8AC3E}">
        <p14:creationId xmlns:p14="http://schemas.microsoft.com/office/powerpoint/2010/main" val="241302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9437-DCA6-AE25-8724-090A4C2C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</a:t>
            </a:r>
            <a:endParaRPr lang="en-RU" dirty="0"/>
          </a:p>
        </p:txBody>
      </p:sp>
      <p:pic>
        <p:nvPicPr>
          <p:cNvPr id="4" name="Content Placeholder 4">
            <a:hlinkClick r:id="rId2"/>
            <a:extLst>
              <a:ext uri="{FF2B5EF4-FFF2-40B4-BE49-F238E27FC236}">
                <a16:creationId xmlns:a16="http://schemas.microsoft.com/office/drawing/2014/main" id="{D56FD6DF-D1AD-D873-25B8-F62A3C38B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200" y="1441102"/>
            <a:ext cx="4233905" cy="473109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0A2B61-978E-D64E-83AE-BD5C9EDC4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050" y="919704"/>
            <a:ext cx="5519695" cy="1636273"/>
          </a:xfrm>
          <a:prstGeom prst="rect">
            <a:avLst/>
          </a:prstGeom>
        </p:spPr>
      </p:pic>
      <p:pic>
        <p:nvPicPr>
          <p:cNvPr id="8" name="Content Placeholder 4">
            <a:hlinkClick r:id="rId5"/>
            <a:extLst>
              <a:ext uri="{FF2B5EF4-FFF2-40B4-BE49-F238E27FC236}">
                <a16:creationId xmlns:a16="http://schemas.microsoft.com/office/drawing/2014/main" id="{9D8A4266-20CC-8068-0412-27FC27969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987" y="2707721"/>
            <a:ext cx="5059822" cy="38103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9EB4DF-8313-B8C6-E84F-2E790EEC873C}"/>
              </a:ext>
            </a:extLst>
          </p:cNvPr>
          <p:cNvSpPr txBox="1"/>
          <p:nvPr/>
        </p:nvSpPr>
        <p:spPr>
          <a:xfrm>
            <a:off x="1219200" y="6333369"/>
            <a:ext cx="1417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Родной Звук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35508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B43D-AD39-4563-D9E3-569A24DA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U"/>
          </a:p>
        </p:txBody>
      </p:sp>
      <p:pic>
        <p:nvPicPr>
          <p:cNvPr id="4" name="Content Placeholder 5">
            <a:hlinkClick r:id="rId2"/>
            <a:extLst>
              <a:ext uri="{FF2B5EF4-FFF2-40B4-BE49-F238E27FC236}">
                <a16:creationId xmlns:a16="http://schemas.microsoft.com/office/drawing/2014/main" id="{ABB7BB96-ACE5-4F8D-4697-F34ACE91E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7402" y="1124464"/>
            <a:ext cx="4798598" cy="4924168"/>
          </a:xfrm>
        </p:spPr>
      </p:pic>
      <p:pic>
        <p:nvPicPr>
          <p:cNvPr id="5" name="Content Placeholder 5">
            <a:hlinkClick r:id="rId4"/>
            <a:extLst>
              <a:ext uri="{FF2B5EF4-FFF2-40B4-BE49-F238E27FC236}">
                <a16:creationId xmlns:a16="http://schemas.microsoft.com/office/drawing/2014/main" id="{0981D5D8-EE50-EFD5-BD57-8F2783586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561" y="991387"/>
            <a:ext cx="4676234" cy="4980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90B10-6783-CDBB-0BC8-DC47713BD248}"/>
              </a:ext>
            </a:extLst>
          </p:cNvPr>
          <p:cNvSpPr txBox="1"/>
          <p:nvPr/>
        </p:nvSpPr>
        <p:spPr>
          <a:xfrm>
            <a:off x="1297402" y="617220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</a:t>
            </a:r>
            <a:r>
              <a:rPr lang="ru-RU" dirty="0"/>
              <a:t>Лейбл</a:t>
            </a:r>
            <a:endParaRPr lang="en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A0BBC-5EE6-A152-91AF-B485753581BD}"/>
              </a:ext>
            </a:extLst>
          </p:cNvPr>
          <p:cNvSpPr txBox="1"/>
          <p:nvPr/>
        </p:nvSpPr>
        <p:spPr>
          <a:xfrm>
            <a:off x="6469561" y="617220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Zion Music</a:t>
            </a:r>
          </a:p>
        </p:txBody>
      </p:sp>
    </p:spTree>
    <p:extLst>
      <p:ext uri="{BB962C8B-B14F-4D97-AF65-F5344CB8AC3E}">
        <p14:creationId xmlns:p14="http://schemas.microsoft.com/office/powerpoint/2010/main" val="349465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2556-CE3E-4AF6-9513-678557C89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DF8AE-621A-66EE-BC63-52D5A0BF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91729"/>
            <a:ext cx="9601200" cy="3581400"/>
          </a:xfrm>
        </p:spPr>
        <p:txBody>
          <a:bodyPr/>
          <a:lstStyle/>
          <a:p>
            <a:r>
              <a:rPr lang="ru-RU" dirty="0"/>
              <a:t>Публикации о новых музыкальных релизах из трех источников:</a:t>
            </a:r>
          </a:p>
          <a:p>
            <a:pPr lvl="1"/>
            <a:r>
              <a:rPr lang="ru-RU" dirty="0"/>
              <a:t>блог «Родной Звук» (</a:t>
            </a:r>
            <a:r>
              <a:rPr lang="ru-RU" dirty="0" err="1"/>
              <a:t>ок</a:t>
            </a:r>
            <a:r>
              <a:rPr lang="ru-RU" dirty="0"/>
              <a:t>. 492к токенов)</a:t>
            </a:r>
          </a:p>
          <a:p>
            <a:pPr lvl="1"/>
            <a:r>
              <a:rPr lang="ru-RU" dirty="0"/>
              <a:t>группа лейбла «</a:t>
            </a:r>
            <a:r>
              <a:rPr lang="en-US" dirty="0"/>
              <a:t>On </a:t>
            </a:r>
            <a:r>
              <a:rPr lang="ru-RU" dirty="0"/>
              <a:t>Лейбл» (</a:t>
            </a:r>
            <a:r>
              <a:rPr lang="ru-RU" dirty="0" err="1"/>
              <a:t>ок</a:t>
            </a:r>
            <a:r>
              <a:rPr lang="ru-RU" dirty="0"/>
              <a:t>. </a:t>
            </a:r>
            <a:r>
              <a:rPr lang="en-US" dirty="0"/>
              <a:t>15</a:t>
            </a:r>
            <a:r>
              <a:rPr lang="ru-RU" dirty="0"/>
              <a:t>к токенов)</a:t>
            </a:r>
          </a:p>
          <a:p>
            <a:pPr lvl="1"/>
            <a:r>
              <a:rPr lang="ru-RU" dirty="0"/>
              <a:t>группа лейбла «</a:t>
            </a:r>
            <a:r>
              <a:rPr lang="en-US" dirty="0"/>
              <a:t>Zion Music</a:t>
            </a:r>
            <a:r>
              <a:rPr lang="ru-RU" dirty="0"/>
              <a:t>» (</a:t>
            </a:r>
            <a:r>
              <a:rPr lang="ru-RU" dirty="0" err="1"/>
              <a:t>ок</a:t>
            </a:r>
            <a:r>
              <a:rPr lang="ru-RU" dirty="0"/>
              <a:t>. 10к токенов)</a:t>
            </a:r>
          </a:p>
          <a:p>
            <a:r>
              <a:rPr lang="ru-RU" dirty="0" err="1"/>
              <a:t>Парсинг</a:t>
            </a:r>
            <a:r>
              <a:rPr lang="ru-RU" dirty="0"/>
              <a:t> с помощью модуля </a:t>
            </a:r>
            <a:r>
              <a:rPr lang="en-GB" dirty="0" err="1"/>
              <a:t>vk_api</a:t>
            </a:r>
            <a:r>
              <a:rPr lang="ru-RU" dirty="0"/>
              <a:t>.</a:t>
            </a:r>
          </a:p>
          <a:p>
            <a:r>
              <a:rPr lang="ru-RU" dirty="0"/>
              <a:t>Последняя выгрузка 27 января.</a:t>
            </a:r>
          </a:p>
          <a:p>
            <a:r>
              <a:rPr lang="ru-RU" dirty="0"/>
              <a:t>Нужные публикации были отобраны при помощи регулярных выражений.</a:t>
            </a:r>
          </a:p>
          <a:p>
            <a:r>
              <a:rPr lang="ru-RU" dirty="0"/>
              <a:t>Тексты были очищены, </a:t>
            </a:r>
            <a:r>
              <a:rPr lang="ru-RU" dirty="0" err="1"/>
              <a:t>токенизированы</a:t>
            </a:r>
            <a:r>
              <a:rPr lang="ru-RU" dirty="0"/>
              <a:t> при помощи </a:t>
            </a:r>
            <a:r>
              <a:rPr lang="en-US" dirty="0"/>
              <a:t>NLTK </a:t>
            </a:r>
            <a:r>
              <a:rPr lang="ru-RU" dirty="0"/>
              <a:t>и </a:t>
            </a:r>
            <a:r>
              <a:rPr lang="ru-RU" dirty="0" err="1"/>
              <a:t>лемматизированы</a:t>
            </a:r>
            <a:r>
              <a:rPr lang="ru-RU" dirty="0"/>
              <a:t> при помощи </a:t>
            </a:r>
            <a:r>
              <a:rPr lang="en-US" dirty="0" err="1"/>
              <a:t>pymorphy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61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2A66-720F-CF1F-7032-9D70CB19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Дизайн проекта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71DB-6122-D9FA-1342-9F83A61C8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299"/>
            <a:ext cx="9687697" cy="5034349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Этап 1: Жанровая специфика</a:t>
            </a:r>
          </a:p>
          <a:p>
            <a:pPr lvl="1"/>
            <a:r>
              <a:rPr lang="ru-RU" dirty="0"/>
              <a:t>Каковы общие лексико-грамматические характеристики текстов о новых музыкальных релизах по сравнению с новостным дискурсом?</a:t>
            </a:r>
          </a:p>
          <a:p>
            <a:pPr lvl="1"/>
            <a:r>
              <a:rPr lang="ru-RU" dirty="0"/>
              <a:t>Материал: объединенный корпус публикаций о музыкальных релизах (</a:t>
            </a:r>
            <a:r>
              <a:rPr lang="ru-RU" dirty="0" err="1"/>
              <a:t>ок</a:t>
            </a:r>
            <a:r>
              <a:rPr lang="ru-RU" dirty="0"/>
              <a:t>. 517к токенов) и сопоставимый новостной корпус (Лента)</a:t>
            </a:r>
          </a:p>
          <a:p>
            <a:pPr lvl="1"/>
            <a:r>
              <a:rPr lang="ru-RU" dirty="0"/>
              <a:t>Шаги: </a:t>
            </a:r>
            <a:r>
              <a:rPr lang="ru-RU" dirty="0" err="1"/>
              <a:t>частеречная</a:t>
            </a:r>
            <a:r>
              <a:rPr lang="ru-RU" dirty="0"/>
              <a:t> разметка, анализ наиболее частотных лемм, анализ эмотивной лексики, работа над коллокациями</a:t>
            </a:r>
          </a:p>
          <a:p>
            <a:r>
              <a:rPr lang="ru-RU" dirty="0"/>
              <a:t>Этап 2: Сравнение внутри жанра</a:t>
            </a:r>
          </a:p>
          <a:p>
            <a:pPr lvl="1"/>
            <a:r>
              <a:rPr lang="ru-RU" dirty="0"/>
              <a:t>Есть ли различия характеристик текстов независимого медиа от публикаций лейблов?</a:t>
            </a:r>
          </a:p>
          <a:p>
            <a:pPr lvl="1"/>
            <a:r>
              <a:rPr lang="ru-RU" dirty="0"/>
              <a:t>Материал: объединенный корпус публикаций лейблов (</a:t>
            </a:r>
            <a:r>
              <a:rPr lang="ru-RU" dirty="0" err="1"/>
              <a:t>ок</a:t>
            </a:r>
            <a:r>
              <a:rPr lang="ru-RU" dirty="0"/>
              <a:t>. 25к токенов) и три сопоставимых случайно отобранных </a:t>
            </a:r>
            <a:r>
              <a:rPr lang="ru-RU" dirty="0" err="1"/>
              <a:t>сэмпла</a:t>
            </a:r>
            <a:r>
              <a:rPr lang="ru-RU" dirty="0"/>
              <a:t> из корпуса «Родного звука» </a:t>
            </a:r>
          </a:p>
          <a:p>
            <a:pPr lvl="1"/>
            <a:r>
              <a:rPr lang="ru-RU" dirty="0"/>
              <a:t>Шаги: </a:t>
            </a:r>
            <a:r>
              <a:rPr lang="en-US" dirty="0"/>
              <a:t>TTR, </a:t>
            </a:r>
            <a:r>
              <a:rPr lang="ru-RU" dirty="0"/>
              <a:t>анализ эмотивной лексики, анализ синтаксиса и именованных сущностей, хи-квадрат для анализа статистической значимости распределения лексики</a:t>
            </a:r>
          </a:p>
        </p:txBody>
      </p:sp>
    </p:spTree>
    <p:extLst>
      <p:ext uri="{BB962C8B-B14F-4D97-AF65-F5344CB8AC3E}">
        <p14:creationId xmlns:p14="http://schemas.microsoft.com/office/powerpoint/2010/main" val="323283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B919-68EA-B4D9-A08D-13198A00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Эмотивная лексика</a:t>
            </a:r>
            <a:endParaRPr lang="en-RU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49BE49-2D87-B1BD-E478-DCE2D6C9D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013684"/>
            <a:ext cx="6309497" cy="28306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677329-E4F8-96B5-DFFC-FED60A802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028240"/>
            <a:ext cx="6309497" cy="13863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A45436-58A9-D940-EDBA-440F41E7B69B}"/>
              </a:ext>
            </a:extLst>
          </p:cNvPr>
          <p:cNvSpPr txBox="1"/>
          <p:nvPr/>
        </p:nvSpPr>
        <p:spPr>
          <a:xfrm>
            <a:off x="8167816" y="2718486"/>
            <a:ext cx="3066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Изначально в словаре: 4988</a:t>
            </a:r>
          </a:p>
          <a:p>
            <a:r>
              <a:rPr lang="ru-RU" dirty="0"/>
              <a:t>Удалено вручную: 215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5306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9BD1-5DE0-C5A4-23EC-83116DC4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Главные результаты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4AF0-0AFF-3935-B49B-00973876B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текстах о новых музыкальных релизах доля прилагательных выше, чем в новостном корпусе (</a:t>
            </a:r>
            <a:r>
              <a:rPr lang="en-US" dirty="0"/>
              <a:t>~</a:t>
            </a:r>
            <a:r>
              <a:rPr lang="ru-RU" dirty="0"/>
              <a:t>0,19 </a:t>
            </a:r>
            <a:r>
              <a:rPr lang="en-US" dirty="0"/>
              <a:t>VS ~0,11)</a:t>
            </a:r>
            <a:r>
              <a:rPr lang="ru-RU" dirty="0"/>
              <a:t>, а доля глаголов ниже (</a:t>
            </a:r>
            <a:r>
              <a:rPr lang="en-US" dirty="0"/>
              <a:t>~0,059 VS 0,093).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3351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1D66-52E1-4735-5578-62B35E34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 </a:t>
            </a:r>
            <a:br>
              <a:rPr lang="ru-RU" dirty="0"/>
            </a:br>
            <a:r>
              <a:rPr lang="ru-RU" i="1" dirty="0" err="1"/>
              <a:t>Частеречная</a:t>
            </a:r>
            <a:r>
              <a:rPr lang="ru-RU" i="1" dirty="0"/>
              <a:t> разметка</a:t>
            </a:r>
            <a:endParaRPr lang="en-RU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C182F5-667E-0CB3-C2FD-47AC6ED4B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076" y="2838966"/>
            <a:ext cx="5704960" cy="28204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07C534-BCF2-D1C9-DB0C-33710E8D4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036" y="2838966"/>
            <a:ext cx="5704964" cy="2820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3EA826-A58C-EFD7-B052-FE9EF7E3DB76}"/>
              </a:ext>
            </a:extLst>
          </p:cNvPr>
          <p:cNvSpPr txBox="1"/>
          <p:nvPr/>
        </p:nvSpPr>
        <p:spPr>
          <a:xfrm>
            <a:off x="782076" y="5795319"/>
            <a:ext cx="483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Объединенный корпус о музыкальных релизах</a:t>
            </a:r>
            <a:endParaRPr lang="en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F4D803-EF5A-0364-87CE-6AD3D3E52B7C}"/>
              </a:ext>
            </a:extLst>
          </p:cNvPr>
          <p:cNvSpPr txBox="1"/>
          <p:nvPr/>
        </p:nvSpPr>
        <p:spPr>
          <a:xfrm>
            <a:off x="6487036" y="5795319"/>
            <a:ext cx="1979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Новостной корпус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52309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D9F2-1398-98FA-6AA9-773418AA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Облака слов</a:t>
            </a:r>
            <a:endParaRPr lang="en-RU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05396-8492-1380-B46E-019EC6245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919905" y="1944855"/>
            <a:ext cx="8900495" cy="4567155"/>
          </a:xfrm>
        </p:spPr>
      </p:pic>
    </p:spTree>
    <p:extLst>
      <p:ext uri="{BB962C8B-B14F-4D97-AF65-F5344CB8AC3E}">
        <p14:creationId xmlns:p14="http://schemas.microsoft.com/office/powerpoint/2010/main" val="1118162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D9F2-1398-98FA-6AA9-773418AA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Облака слов</a:t>
            </a:r>
            <a:endParaRPr lang="en-RU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05396-8492-1380-B46E-019EC6245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919905" y="1944855"/>
            <a:ext cx="8900495" cy="4567155"/>
          </a:xfrm>
        </p:spPr>
      </p:pic>
    </p:spTree>
    <p:extLst>
      <p:ext uri="{BB962C8B-B14F-4D97-AF65-F5344CB8AC3E}">
        <p14:creationId xmlns:p14="http://schemas.microsoft.com/office/powerpoint/2010/main" val="1365319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D9F2-1398-98FA-6AA9-773418AA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Облака слов</a:t>
            </a:r>
            <a:endParaRPr lang="en-RU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05396-8492-1380-B46E-019EC6245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905" y="1944855"/>
            <a:ext cx="8900495" cy="4567155"/>
          </a:xfrm>
        </p:spPr>
      </p:pic>
    </p:spTree>
    <p:extLst>
      <p:ext uri="{BB962C8B-B14F-4D97-AF65-F5344CB8AC3E}">
        <p14:creationId xmlns:p14="http://schemas.microsoft.com/office/powerpoint/2010/main" val="230501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9BD1-5DE0-C5A4-23EC-83116DC4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Главные результаты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4AF0-0AFF-3935-B49B-00973876B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158343"/>
          </a:xfrm>
        </p:spPr>
        <p:txBody>
          <a:bodyPr/>
          <a:lstStyle/>
          <a:p>
            <a:r>
              <a:rPr lang="ru-RU" dirty="0"/>
              <a:t>В текстах о новых музыкальных релизах доля прилагательных выше, чем в новостном корпусе (</a:t>
            </a:r>
            <a:r>
              <a:rPr lang="en-US" dirty="0"/>
              <a:t>~</a:t>
            </a:r>
            <a:r>
              <a:rPr lang="ru-RU" dirty="0"/>
              <a:t>0,19 </a:t>
            </a:r>
            <a:r>
              <a:rPr lang="en-US" dirty="0"/>
              <a:t>VS ~0,11), </a:t>
            </a:r>
            <a:r>
              <a:rPr lang="ru-RU" dirty="0"/>
              <a:t>, а доля глаголов ниже (</a:t>
            </a:r>
            <a:r>
              <a:rPr lang="en-US" dirty="0"/>
              <a:t>~0,059 VS 0,093).</a:t>
            </a:r>
            <a:endParaRPr lang="ru-RU" dirty="0"/>
          </a:p>
          <a:p>
            <a:r>
              <a:rPr lang="ru-RU" dirty="0"/>
              <a:t>Частотные леммы в корпусе о музыкальных релизах включают номинацию релизов, музыкальных артистов и жанров, их дескриптивные и оценочные характеристики, а также глаголы, описывающие действия, связанные с выпуском и функционированием музыкальных релизов.</a:t>
            </a:r>
          </a:p>
          <a:p>
            <a:r>
              <a:rPr lang="ru-RU" dirty="0"/>
              <a:t>Тексты о новых музыкальных релизах более насыщены эмотивной лексикой (доля </a:t>
            </a:r>
            <a:r>
              <a:rPr lang="en-US" dirty="0"/>
              <a:t>~0,055 VS ~0,026).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710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BDB4-D82F-C216-0FB7-0D4324E74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Эмотивная лексика</a:t>
            </a:r>
            <a:endParaRPr lang="en-RU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BCB185-AB48-7B1F-C4C5-C798B7F50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6421" y="2171700"/>
            <a:ext cx="8506581" cy="4365024"/>
          </a:xfrm>
        </p:spPr>
      </p:pic>
    </p:spTree>
    <p:extLst>
      <p:ext uri="{BB962C8B-B14F-4D97-AF65-F5344CB8AC3E}">
        <p14:creationId xmlns:p14="http://schemas.microsoft.com/office/powerpoint/2010/main" val="2560642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2003-CF7B-5D54-5CB9-D030A64B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Коллокации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823814-A0B0-B553-8930-51C901677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183979"/>
              </p:ext>
            </p:extLst>
          </p:nvPr>
        </p:nvGraphicFramePr>
        <p:xfrm>
          <a:off x="4724399" y="685800"/>
          <a:ext cx="7100807" cy="602182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181957">
                  <a:extLst>
                    <a:ext uri="{9D8B030D-6E8A-4147-A177-3AD203B41FA5}">
                      <a16:colId xmlns:a16="http://schemas.microsoft.com/office/drawing/2014/main" val="795147724"/>
                    </a:ext>
                  </a:extLst>
                </a:gridCol>
                <a:gridCol w="1127554">
                  <a:extLst>
                    <a:ext uri="{9D8B030D-6E8A-4147-A177-3AD203B41FA5}">
                      <a16:colId xmlns:a16="http://schemas.microsoft.com/office/drawing/2014/main" val="2431784349"/>
                    </a:ext>
                  </a:extLst>
                </a:gridCol>
                <a:gridCol w="1420161">
                  <a:extLst>
                    <a:ext uri="{9D8B030D-6E8A-4147-A177-3AD203B41FA5}">
                      <a16:colId xmlns:a16="http://schemas.microsoft.com/office/drawing/2014/main" val="1246152250"/>
                    </a:ext>
                  </a:extLst>
                </a:gridCol>
                <a:gridCol w="912136">
                  <a:extLst>
                    <a:ext uri="{9D8B030D-6E8A-4147-A177-3AD203B41FA5}">
                      <a16:colId xmlns:a16="http://schemas.microsoft.com/office/drawing/2014/main" val="941879438"/>
                    </a:ext>
                  </a:extLst>
                </a:gridCol>
                <a:gridCol w="1458999">
                  <a:extLst>
                    <a:ext uri="{9D8B030D-6E8A-4147-A177-3AD203B41FA5}">
                      <a16:colId xmlns:a16="http://schemas.microsoft.com/office/drawing/2014/main" val="1450609098"/>
                    </a:ext>
                  </a:extLst>
                </a:gridCol>
              </a:tblGrid>
              <a:tr h="157048">
                <a:tc>
                  <a:txBody>
                    <a:bodyPr/>
                    <a:lstStyle/>
                    <a:p>
                      <a:r>
                        <a:rPr lang="en-US" sz="1200" kern="100" dirty="0">
                          <a:effectLst/>
                        </a:rPr>
                        <a:t>bigram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word_1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word_2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freq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likelihood_ratio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088306382"/>
                  </a:ext>
                </a:extLst>
              </a:tr>
              <a:tr h="15704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любимый наш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любимый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наш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468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2266.11997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973654507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встречный старенький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встречный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старенький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841.770091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970587760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женский мужской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женский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мужской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107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608.392637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806111589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народный русский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народный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русский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516.014903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334720017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дебютный московский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дебютный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московский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284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437.796165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48964975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гаражный грязный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гаражный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грязный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367.41512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787707134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жуковский подмосковный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жуковский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подмосковный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366.683625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501084409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ангельский женский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ангельский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женский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329.353553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67347155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внешний внутренний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внешний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внутренний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326.64183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350860352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главный отечественный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главный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отечественный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73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300.144993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149410566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каждый отдельный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каждый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отдельный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54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270.544372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514521539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дебютный сольный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дебютный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сольный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123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264.029917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008677371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знакомый каждый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знакомый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каждый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79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262.367677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918061685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знакомый многий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знакомый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многий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39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246.563588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400736322"/>
                  </a:ext>
                </a:extLst>
              </a:tr>
              <a:tr h="15704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летний тёплый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летний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тёплый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94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243.063349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844429089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важный школьный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важный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школьный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33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242.993578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367195188"/>
                  </a:ext>
                </a:extLst>
              </a:tr>
              <a:tr h="15704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80-й 90-й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80-й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90-й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238.74468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856975721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известный узкий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известный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узкий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29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237.226429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638655995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свой собственный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свой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собственный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139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222.72071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57652937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гитарный тяжёлый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гитарный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тяжёлый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68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218.172532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077158840"/>
                  </a:ext>
                </a:extLst>
              </a:tr>
              <a:tr h="15704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летний лёгкий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летний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лёгкий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90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217.480116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816654731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лёгкий танцевальный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лёгкий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танцевальный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100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213.665938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539652072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главный российский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главный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российский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78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208.907823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720129653"/>
                  </a:ext>
                </a:extLst>
              </a:tr>
              <a:tr h="2462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беззаботный лёгкий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беззаботный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лёгкий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207.554059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4244651231"/>
                  </a:ext>
                </a:extLst>
              </a:tr>
              <a:tr h="15704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добрый злой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добрый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злой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203.05719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482654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08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2003-CF7B-5D54-5CB9-D030A64B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Коллокации</a:t>
            </a:r>
            <a:endParaRPr lang="en-RU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3919F9-062E-C9AA-B62A-E202A1DE2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586289"/>
              </p:ext>
            </p:extLst>
          </p:nvPr>
        </p:nvGraphicFramePr>
        <p:xfrm>
          <a:off x="4960360" y="685799"/>
          <a:ext cx="6520441" cy="568489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465946">
                  <a:extLst>
                    <a:ext uri="{9D8B030D-6E8A-4147-A177-3AD203B41FA5}">
                      <a16:colId xmlns:a16="http://schemas.microsoft.com/office/drawing/2014/main" val="205376246"/>
                    </a:ext>
                  </a:extLst>
                </a:gridCol>
                <a:gridCol w="1706571">
                  <a:extLst>
                    <a:ext uri="{9D8B030D-6E8A-4147-A177-3AD203B41FA5}">
                      <a16:colId xmlns:a16="http://schemas.microsoft.com/office/drawing/2014/main" val="3339592074"/>
                    </a:ext>
                  </a:extLst>
                </a:gridCol>
                <a:gridCol w="1086981">
                  <a:extLst>
                    <a:ext uri="{9D8B030D-6E8A-4147-A177-3AD203B41FA5}">
                      <a16:colId xmlns:a16="http://schemas.microsoft.com/office/drawing/2014/main" val="191799257"/>
                    </a:ext>
                  </a:extLst>
                </a:gridCol>
                <a:gridCol w="1086981">
                  <a:extLst>
                    <a:ext uri="{9D8B030D-6E8A-4147-A177-3AD203B41FA5}">
                      <a16:colId xmlns:a16="http://schemas.microsoft.com/office/drawing/2014/main" val="3707520374"/>
                    </a:ext>
                  </a:extLst>
                </a:gridCol>
                <a:gridCol w="591904">
                  <a:extLst>
                    <a:ext uri="{9D8B030D-6E8A-4147-A177-3AD203B41FA5}">
                      <a16:colId xmlns:a16="http://schemas.microsoft.com/office/drawing/2014/main" val="2493975691"/>
                    </a:ext>
                  </a:extLst>
                </a:gridCol>
                <a:gridCol w="1582058">
                  <a:extLst>
                    <a:ext uri="{9D8B030D-6E8A-4147-A177-3AD203B41FA5}">
                      <a16:colId xmlns:a16="http://schemas.microsoft.com/office/drawing/2014/main" val="3617588165"/>
                    </a:ext>
                  </a:extLst>
                </a:gridCol>
              </a:tblGrid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 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en-US" sz="1300" kern="100">
                          <a:effectLst/>
                        </a:rPr>
                        <a:t>bigram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en-US" sz="1300" kern="100">
                          <a:effectLst/>
                        </a:rPr>
                        <a:t>word</a:t>
                      </a:r>
                      <a:r>
                        <a:rPr lang="ru-RU" sz="1300" kern="100">
                          <a:effectLst/>
                        </a:rPr>
                        <a:t>_1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en-US" sz="1300" kern="100">
                          <a:effectLst/>
                        </a:rPr>
                        <a:t>word</a:t>
                      </a:r>
                      <a:r>
                        <a:rPr lang="ru-RU" sz="1300" kern="100">
                          <a:effectLst/>
                        </a:rPr>
                        <a:t>_2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en-US" sz="1300" kern="100">
                          <a:effectLst/>
                        </a:rPr>
                        <a:t>freq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en-US" sz="1300" kern="100">
                          <a:effectLst/>
                        </a:rPr>
                        <a:t>likelihood</a:t>
                      </a:r>
                      <a:r>
                        <a:rPr lang="ru-RU" sz="1300" kern="100">
                          <a:effectLst/>
                        </a:rPr>
                        <a:t>_</a:t>
                      </a:r>
                      <a:r>
                        <a:rPr lang="en-US" sz="1300" kern="100">
                          <a:effectLst/>
                        </a:rPr>
                        <a:t>ratio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1330759930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0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новый сингл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новый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сингл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1020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4939.430661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612670327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в дух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в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дух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775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4257.439323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1529159268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2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новый альбом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новый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альбом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1136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3961.032306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3420147904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3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 dirty="0">
                          <a:effectLst/>
                        </a:rPr>
                        <a:t>о тот</a:t>
                      </a:r>
                      <a:endParaRPr lang="en-RU" sz="13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о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тот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627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3514.051143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2446962604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4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женский вокал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 dirty="0">
                          <a:effectLst/>
                        </a:rPr>
                        <a:t>женский</a:t>
                      </a:r>
                      <a:endParaRPr lang="en-RU" sz="13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вокал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321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3257.520946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1843351265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5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дебютный альбом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дебютный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альбом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532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2871.505992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1598162617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6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cream soda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cream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soda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100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1750.479471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2236352963"/>
                  </a:ext>
                </a:extLst>
              </a:tr>
              <a:tr h="184683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7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песня о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песня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о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540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1658.29483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1920255183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8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выпустить новый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выпустить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новый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369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1489.777955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4287630211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9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новый видео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новый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видео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330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1379.802794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668371492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10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иван дорн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иван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дорн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97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1362.471684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960664570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11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история о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история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о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289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1357.451595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1855662685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12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слово музыкант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слово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музыкант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202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1314.768898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3631639132"/>
                  </a:ext>
                </a:extLst>
              </a:tr>
              <a:tr h="369367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13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синекдоха монток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синекдоха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монток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70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1306.798411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100588392"/>
                  </a:ext>
                </a:extLst>
              </a:tr>
              <a:tr h="315641"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14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русский язык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русский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язык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>
                          <a:effectLst/>
                        </a:rPr>
                        <a:t>150</a:t>
                      </a:r>
                      <a:endParaRPr lang="en-RU" sz="13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tc>
                  <a:txBody>
                    <a:bodyPr/>
                    <a:lstStyle/>
                    <a:p>
                      <a:r>
                        <a:rPr lang="ru-RU" sz="1300" kern="100" dirty="0">
                          <a:effectLst/>
                        </a:rPr>
                        <a:t>1300.94595</a:t>
                      </a:r>
                      <a:endParaRPr lang="en-RU" sz="13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3721" marR="53721" marT="0" marB="0"/>
                </a:tc>
                <a:extLst>
                  <a:ext uri="{0D108BD9-81ED-4DB2-BD59-A6C34878D82A}">
                    <a16:rowId xmlns:a16="http://schemas.microsoft.com/office/drawing/2014/main" val="675488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99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1B9-97CC-A523-CF90-2B643595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Коллокации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4051E5-5C4E-B8F0-2784-8F41759D8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471304"/>
              </p:ext>
            </p:extLst>
          </p:nvPr>
        </p:nvGraphicFramePr>
        <p:xfrm>
          <a:off x="4770700" y="1228272"/>
          <a:ext cx="6869758" cy="507919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299202">
                  <a:extLst>
                    <a:ext uri="{9D8B030D-6E8A-4147-A177-3AD203B41FA5}">
                      <a16:colId xmlns:a16="http://schemas.microsoft.com/office/drawing/2014/main" val="1987529014"/>
                    </a:ext>
                  </a:extLst>
                </a:gridCol>
                <a:gridCol w="853413">
                  <a:extLst>
                    <a:ext uri="{9D8B030D-6E8A-4147-A177-3AD203B41FA5}">
                      <a16:colId xmlns:a16="http://schemas.microsoft.com/office/drawing/2014/main" val="291522914"/>
                    </a:ext>
                  </a:extLst>
                </a:gridCol>
                <a:gridCol w="1059543">
                  <a:extLst>
                    <a:ext uri="{9D8B030D-6E8A-4147-A177-3AD203B41FA5}">
                      <a16:colId xmlns:a16="http://schemas.microsoft.com/office/drawing/2014/main" val="37169664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836509344"/>
                    </a:ext>
                  </a:extLst>
                </a:gridCol>
                <a:gridCol w="624114">
                  <a:extLst>
                    <a:ext uri="{9D8B030D-6E8A-4147-A177-3AD203B41FA5}">
                      <a16:colId xmlns:a16="http://schemas.microsoft.com/office/drawing/2014/main" val="1026471220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177883460"/>
                    </a:ext>
                  </a:extLst>
                </a:gridCol>
              </a:tblGrid>
              <a:tr h="491815"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trigram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word_1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word_2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word_3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freq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likelihood_ratio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2878347832"/>
                  </a:ext>
                </a:extLst>
              </a:tr>
              <a:tr h="375249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ранний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ранний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64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4757.508766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3068788804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время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время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3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4444.197027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310713994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90-й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90-й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4392.29774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4250831697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группа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группа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37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4367.499449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2476508423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80-й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80-й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4345.936037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806664411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</a:t>
                      </a:r>
                      <a:r>
                        <a:rPr lang="en-US" sz="1400" kern="100">
                          <a:effectLst/>
                        </a:rPr>
                        <a:t>fka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fka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4324.542297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773960778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</a:t>
                      </a:r>
                      <a:r>
                        <a:rPr lang="en-US" sz="1400" kern="100">
                          <a:effectLst/>
                        </a:rPr>
                        <a:t>james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james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4323.617298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863265645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</a:t>
                      </a:r>
                      <a:r>
                        <a:rPr lang="en-US" sz="1400" kern="100">
                          <a:effectLst/>
                        </a:rPr>
                        <a:t>xx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xx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4322.907439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397695205"/>
                  </a:ext>
                </a:extLst>
              </a:tr>
              <a:tr h="562873"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в дух neighbourhood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neighbourhood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4319.084917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349559168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70-й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70-й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4317.319694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3613669948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синекдоха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синекдоха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4316.276318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4109330327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</a:t>
                      </a:r>
                      <a:r>
                        <a:rPr lang="en-US" sz="1400" kern="100">
                          <a:effectLst/>
                        </a:rPr>
                        <a:t>jamie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jamie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4316.064218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814206349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</a:t>
                      </a:r>
                      <a:r>
                        <a:rPr lang="en-US" sz="1400" kern="100">
                          <a:effectLst/>
                        </a:rPr>
                        <a:t>frank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frank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4313.74014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699982189"/>
                  </a:ext>
                </a:extLst>
              </a:tr>
              <a:tr h="245908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</a:t>
                      </a:r>
                      <a:r>
                        <a:rPr lang="en-US" sz="1400" kern="100">
                          <a:effectLst/>
                        </a:rPr>
                        <a:t>four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four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5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4311.53139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3958814756"/>
                  </a:ext>
                </a:extLst>
              </a:tr>
              <a:tr h="375249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 дух </a:t>
                      </a:r>
                      <a:r>
                        <a:rPr lang="en-US" sz="1400" kern="100">
                          <a:effectLst/>
                        </a:rPr>
                        <a:t>bonobo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дух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bonobo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4307.726926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554492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441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F475-A917-B2E4-022A-FDD1E274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Коллокации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A4A6BE-3C32-0E52-CF22-B17753BF4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637286"/>
              </p:ext>
            </p:extLst>
          </p:nvPr>
        </p:nvGraphicFramePr>
        <p:xfrm>
          <a:off x="4586513" y="537029"/>
          <a:ext cx="7445830" cy="599438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741716">
                  <a:extLst>
                    <a:ext uri="{9D8B030D-6E8A-4147-A177-3AD203B41FA5}">
                      <a16:colId xmlns:a16="http://schemas.microsoft.com/office/drawing/2014/main" val="39835606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308948644"/>
                    </a:ext>
                  </a:extLst>
                </a:gridCol>
                <a:gridCol w="862773">
                  <a:extLst>
                    <a:ext uri="{9D8B030D-6E8A-4147-A177-3AD203B41FA5}">
                      <a16:colId xmlns:a16="http://schemas.microsoft.com/office/drawing/2014/main" val="1889163537"/>
                    </a:ext>
                  </a:extLst>
                </a:gridCol>
                <a:gridCol w="1241247">
                  <a:extLst>
                    <a:ext uri="{9D8B030D-6E8A-4147-A177-3AD203B41FA5}">
                      <a16:colId xmlns:a16="http://schemas.microsoft.com/office/drawing/2014/main" val="955117392"/>
                    </a:ext>
                  </a:extLst>
                </a:gridCol>
                <a:gridCol w="1241247">
                  <a:extLst>
                    <a:ext uri="{9D8B030D-6E8A-4147-A177-3AD203B41FA5}">
                      <a16:colId xmlns:a16="http://schemas.microsoft.com/office/drawing/2014/main" val="1271336096"/>
                    </a:ext>
                  </a:extLst>
                </a:gridCol>
                <a:gridCol w="1241247">
                  <a:extLst>
                    <a:ext uri="{9D8B030D-6E8A-4147-A177-3AD203B41FA5}">
                      <a16:colId xmlns:a16="http://schemas.microsoft.com/office/drawing/2014/main" val="245001851"/>
                    </a:ext>
                  </a:extLst>
                </a:gridCol>
              </a:tblGrid>
              <a:tr h="255080">
                <a:tc>
                  <a:txBody>
                    <a:bodyPr/>
                    <a:lstStyle/>
                    <a:p>
                      <a:r>
                        <a:rPr lang="en-US" sz="1200" kern="100" dirty="0">
                          <a:effectLst/>
                        </a:rPr>
                        <a:t>trigram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word_1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word_2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word_3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freq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likelihood_ratio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3590754816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тот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тот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5173.913965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3261172461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любовь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любовь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2721.218857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3694066293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поиск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поиск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1951.178116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3789325870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вечный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вечный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1846.557302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1391070948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внутренний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внутренний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1825.816213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632855847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расставание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о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расставание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10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1824.457941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2813328223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взросление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взросление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1808.229901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2067285144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чувство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чувство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10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1791.171095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3544718384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одиночество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одиночество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1771.382525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4065657723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принятие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принятие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1763.461071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3730891402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прощание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прощание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1759.661896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2899938407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сложный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сложный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4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1759.400556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3021732747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отношение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отношение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1755.954087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3610066676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дружба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дружба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1744.478896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838924990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жизнь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жизнь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1736.771178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1176807154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потеря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потеря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1734.831396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4026715768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новый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новый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1734.729327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2168483526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смерть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смерть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1728.085441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1946357783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разлука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разлука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1721.359626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1419406641"/>
                  </a:ext>
                </a:extLst>
              </a:tr>
              <a:tr h="25508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 о хрупкость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песня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хрупкость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1718.870462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1977" marR="31977" marT="0" marB="0"/>
                </a:tc>
                <a:extLst>
                  <a:ext uri="{0D108BD9-81ED-4DB2-BD59-A6C34878D82A}">
                    <a16:rowId xmlns:a16="http://schemas.microsoft.com/office/drawing/2014/main" val="1789731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095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61B1-02F1-019E-B855-ABB590E3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Коллокации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BA98BE-911C-C9E3-14D9-3D4CCF5AC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9857452"/>
              </p:ext>
            </p:extLst>
          </p:nvPr>
        </p:nvGraphicFramePr>
        <p:xfrm>
          <a:off x="4572000" y="685800"/>
          <a:ext cx="7315200" cy="594723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017486">
                  <a:extLst>
                    <a:ext uri="{9D8B030D-6E8A-4147-A177-3AD203B41FA5}">
                      <a16:colId xmlns:a16="http://schemas.microsoft.com/office/drawing/2014/main" val="2769367562"/>
                    </a:ext>
                  </a:extLst>
                </a:gridCol>
                <a:gridCol w="1030514">
                  <a:extLst>
                    <a:ext uri="{9D8B030D-6E8A-4147-A177-3AD203B41FA5}">
                      <a16:colId xmlns:a16="http://schemas.microsoft.com/office/drawing/2014/main" val="2997697825"/>
                    </a:ext>
                  </a:extLst>
                </a:gridCol>
                <a:gridCol w="608787">
                  <a:extLst>
                    <a:ext uri="{9D8B030D-6E8A-4147-A177-3AD203B41FA5}">
                      <a16:colId xmlns:a16="http://schemas.microsoft.com/office/drawing/2014/main" val="2297333303"/>
                    </a:ext>
                  </a:extLst>
                </a:gridCol>
                <a:gridCol w="1219471">
                  <a:extLst>
                    <a:ext uri="{9D8B030D-6E8A-4147-A177-3AD203B41FA5}">
                      <a16:colId xmlns:a16="http://schemas.microsoft.com/office/drawing/2014/main" val="1332388146"/>
                    </a:ext>
                  </a:extLst>
                </a:gridCol>
                <a:gridCol w="1219471">
                  <a:extLst>
                    <a:ext uri="{9D8B030D-6E8A-4147-A177-3AD203B41FA5}">
                      <a16:colId xmlns:a16="http://schemas.microsoft.com/office/drawing/2014/main" val="2380355573"/>
                    </a:ext>
                  </a:extLst>
                </a:gridCol>
                <a:gridCol w="1219471">
                  <a:extLst>
                    <a:ext uri="{9D8B030D-6E8A-4147-A177-3AD203B41FA5}">
                      <a16:colId xmlns:a16="http://schemas.microsoft.com/office/drawing/2014/main" val="2580516236"/>
                    </a:ext>
                  </a:extLst>
                </a:gridCol>
              </a:tblGrid>
              <a:tr h="253418"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trigram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word_1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word_2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word_3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freq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en-US" sz="1200" kern="100">
                          <a:effectLst/>
                        </a:rPr>
                        <a:t>likelihood_ratio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085513679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тот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тот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4872.104186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4033722086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любовь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любовь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2453.636795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542176676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поиск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поиск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1651.583807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896559754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внутренний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внутренний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1520.271403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257225854"/>
                  </a:ext>
                </a:extLst>
              </a:tr>
              <a:tr h="372039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расставание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расставание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1518.121091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820980220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взросление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взросление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1514.203662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968994605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отношение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отношение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1497.809567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51978980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чувство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чувство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1487.902317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156749342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прощание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прощание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1468.473856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691157168"/>
                  </a:ext>
                </a:extLst>
              </a:tr>
              <a:tr h="3801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одиночество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одиночество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1468.071285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109099637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принятие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принятие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1460.819439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154773905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сложный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сложный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1455.98059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317643863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потеря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потеря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1441.292471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204914131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жизнь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жизнь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1438.777141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422376832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человек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человек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1424.15389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424337360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хрупкость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хрупкость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1422.110302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185108132"/>
                  </a:ext>
                </a:extLst>
              </a:tr>
              <a:tr h="3801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путешествие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путешествие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3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1421.246672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3848724883"/>
                  </a:ext>
                </a:extLst>
              </a:tr>
              <a:tr h="3801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созависимый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созависимый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1416.703349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856656481"/>
                  </a:ext>
                </a:extLst>
              </a:tr>
              <a:tr h="253418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страх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страх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1412.832681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2987638543"/>
                  </a:ext>
                </a:extLst>
              </a:tr>
              <a:tr h="380127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 о влюблённость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история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влюблённость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1404.763089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9196" marR="29196" marT="0" marB="0"/>
                </a:tc>
                <a:extLst>
                  <a:ext uri="{0D108BD9-81ED-4DB2-BD59-A6C34878D82A}">
                    <a16:rowId xmlns:a16="http://schemas.microsoft.com/office/drawing/2014/main" val="1922858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662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9BD1-5DE0-C5A4-23EC-83116DC4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</a:t>
            </a:r>
            <a:br>
              <a:rPr lang="ru-RU" dirty="0"/>
            </a:br>
            <a:r>
              <a:rPr lang="ru-RU" i="1" dirty="0"/>
              <a:t>Главные результаты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4AF0-0AFF-3935-B49B-00973876B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158343"/>
          </a:xfrm>
        </p:spPr>
        <p:txBody>
          <a:bodyPr/>
          <a:lstStyle/>
          <a:p>
            <a:r>
              <a:rPr lang="ru-RU" dirty="0"/>
              <a:t>В текстах о новых музыкальных релизах доля прилагательных выше, чем в новостном корпусе (</a:t>
            </a:r>
            <a:r>
              <a:rPr lang="en-US" dirty="0"/>
              <a:t>~</a:t>
            </a:r>
            <a:r>
              <a:rPr lang="ru-RU" dirty="0"/>
              <a:t>0,19 </a:t>
            </a:r>
            <a:r>
              <a:rPr lang="en-US" dirty="0"/>
              <a:t>VS ~0,11), </a:t>
            </a:r>
            <a:r>
              <a:rPr lang="ru-RU" dirty="0"/>
              <a:t>, а доля глаголов ниже (</a:t>
            </a:r>
            <a:r>
              <a:rPr lang="en-US" dirty="0"/>
              <a:t>~0,059 VS 0,093).</a:t>
            </a:r>
            <a:endParaRPr lang="ru-RU" dirty="0"/>
          </a:p>
          <a:p>
            <a:r>
              <a:rPr lang="ru-RU" dirty="0"/>
              <a:t>Частотные леммы в корпусе о музыкальных релизах включают номинацию релизов, музыкальных артистов и жанров, их дескриптивные и оценочные характеристики, а также глаголы, описывающие действия, связанные с выпуском и функционированием музыкальных релизов.</a:t>
            </a:r>
          </a:p>
          <a:p>
            <a:r>
              <a:rPr lang="ru-RU" dirty="0"/>
              <a:t>Тексты о новых музыкальных релизах более насыщены эмотивной лексикой (доля </a:t>
            </a:r>
            <a:r>
              <a:rPr lang="en-US" dirty="0"/>
              <a:t>~0,055 VS ~0,026).</a:t>
            </a:r>
            <a:endParaRPr lang="ru-RU" dirty="0"/>
          </a:p>
          <a:p>
            <a:r>
              <a:rPr lang="ru-RU" dirty="0"/>
              <a:t>Анализ коллокаций демонстрирует устойчивые описательные пары прилагательных, </a:t>
            </a:r>
            <a:r>
              <a:rPr lang="ru-RU" dirty="0" err="1"/>
              <a:t>интертекстуальные</a:t>
            </a:r>
            <a:r>
              <a:rPr lang="ru-RU" dirty="0"/>
              <a:t> отсылки к другим артистам и эпохам и тематические конструкции («песня о …», «история о»).</a:t>
            </a:r>
          </a:p>
        </p:txBody>
      </p:sp>
    </p:spTree>
    <p:extLst>
      <p:ext uri="{BB962C8B-B14F-4D97-AF65-F5344CB8AC3E}">
        <p14:creationId xmlns:p14="http://schemas.microsoft.com/office/powerpoint/2010/main" val="1936172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E576-CCE6-9FB3-3342-EE774428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Главные результаты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637DC-EF5B-A14A-48CA-96EBFCA8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Значение </a:t>
            </a:r>
            <a:r>
              <a:rPr lang="en-US" dirty="0"/>
              <a:t>TTR </a:t>
            </a:r>
            <a:r>
              <a:rPr lang="ru-RU" dirty="0"/>
              <a:t>выше для </a:t>
            </a:r>
            <a:r>
              <a:rPr lang="ru-RU" dirty="0" err="1"/>
              <a:t>сэмплов</a:t>
            </a:r>
            <a:r>
              <a:rPr lang="ru-RU" dirty="0"/>
              <a:t> независимого медиа по сравнению с корпусом лейблов.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7970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8346-E1FD-D5B0-2D11-BFFA6AB0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en-US" i="1" dirty="0"/>
              <a:t>TTR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69FABF-587D-374E-AF01-C37734668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1140589"/>
              </p:ext>
            </p:extLst>
          </p:nvPr>
        </p:nvGraphicFramePr>
        <p:xfrm>
          <a:off x="1553392" y="2575058"/>
          <a:ext cx="5725160" cy="137160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431290">
                  <a:extLst>
                    <a:ext uri="{9D8B030D-6E8A-4147-A177-3AD203B41FA5}">
                      <a16:colId xmlns:a16="http://schemas.microsoft.com/office/drawing/2014/main" val="3748870960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799727870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1818119891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260940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Количество токенов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Из них уникальных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TTR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 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124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25537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10110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0.395896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Сэмпл 1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47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25730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10172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0.395336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 err="1">
                          <a:effectLst/>
                        </a:rPr>
                        <a:t>Сэмпл</a:t>
                      </a:r>
                      <a:r>
                        <a:rPr lang="ru-RU" sz="1800" kern="100" dirty="0">
                          <a:effectLst/>
                        </a:rPr>
                        <a:t> 2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7030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25063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9930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0.39620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 err="1">
                          <a:effectLst/>
                        </a:rPr>
                        <a:t>Сэмпл</a:t>
                      </a:r>
                      <a:r>
                        <a:rPr lang="ru-RU" sz="1800" kern="100" dirty="0">
                          <a:effectLst/>
                        </a:rPr>
                        <a:t> 3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72602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4A3EAB-F10B-3D00-4FC6-1145780DF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375476"/>
              </p:ext>
            </p:extLst>
          </p:nvPr>
        </p:nvGraphicFramePr>
        <p:xfrm>
          <a:off x="1553392" y="4909095"/>
          <a:ext cx="4310379" cy="82296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436551">
                  <a:extLst>
                    <a:ext uri="{9D8B030D-6E8A-4147-A177-3AD203B41FA5}">
                      <a16:colId xmlns:a16="http://schemas.microsoft.com/office/drawing/2014/main" val="1185382437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3971646545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997203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Количество токенов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Из них уникальных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TTR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1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24467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7727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0.315813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996111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84B7CFC-D024-1FA3-AEB2-B4C235F5E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19126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B9C1CD-C320-0364-2E2F-04A3658D4DB7}"/>
              </a:ext>
            </a:extLst>
          </p:cNvPr>
          <p:cNvSpPr txBox="1"/>
          <p:nvPr/>
        </p:nvSpPr>
        <p:spPr>
          <a:xfrm>
            <a:off x="1553392" y="2185154"/>
            <a:ext cx="3145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</a:t>
            </a:r>
            <a:r>
              <a:rPr lang="ru-RU" dirty="0" err="1"/>
              <a:t>сэмплов</a:t>
            </a:r>
            <a:r>
              <a:rPr lang="ru-RU" dirty="0"/>
              <a:t> «Родного Звука»:</a:t>
            </a:r>
            <a:endParaRPr lang="en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A13F31-5940-A5AF-3AC6-74257620908D}"/>
              </a:ext>
            </a:extLst>
          </p:cNvPr>
          <p:cNvSpPr txBox="1"/>
          <p:nvPr/>
        </p:nvSpPr>
        <p:spPr>
          <a:xfrm>
            <a:off x="1553392" y="4336563"/>
            <a:ext cx="231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корпуса лейблов: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15748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DA70-86A1-E4EA-5F87-C33B5D4D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Эмотивная лексика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8C5C08-5C5B-6E0A-AD38-947701045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837014"/>
              </p:ext>
            </p:extLst>
          </p:nvPr>
        </p:nvGraphicFramePr>
        <p:xfrm>
          <a:off x="1371600" y="2331720"/>
          <a:ext cx="8512630" cy="195072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702337">
                  <a:extLst>
                    <a:ext uri="{9D8B030D-6E8A-4147-A177-3AD203B41FA5}">
                      <a16:colId xmlns:a16="http://schemas.microsoft.com/office/drawing/2014/main" val="3449595436"/>
                    </a:ext>
                  </a:extLst>
                </a:gridCol>
                <a:gridCol w="1702337">
                  <a:extLst>
                    <a:ext uri="{9D8B030D-6E8A-4147-A177-3AD203B41FA5}">
                      <a16:colId xmlns:a16="http://schemas.microsoft.com/office/drawing/2014/main" val="303351450"/>
                    </a:ext>
                  </a:extLst>
                </a:gridCol>
                <a:gridCol w="1702337">
                  <a:extLst>
                    <a:ext uri="{9D8B030D-6E8A-4147-A177-3AD203B41FA5}">
                      <a16:colId xmlns:a16="http://schemas.microsoft.com/office/drawing/2014/main" val="2155144986"/>
                    </a:ext>
                  </a:extLst>
                </a:gridCol>
                <a:gridCol w="1702337">
                  <a:extLst>
                    <a:ext uri="{9D8B030D-6E8A-4147-A177-3AD203B41FA5}">
                      <a16:colId xmlns:a16="http://schemas.microsoft.com/office/drawing/2014/main" val="4010944151"/>
                    </a:ext>
                  </a:extLst>
                </a:gridCol>
                <a:gridCol w="1703282">
                  <a:extLst>
                    <a:ext uri="{9D8B030D-6E8A-4147-A177-3AD203B41FA5}">
                      <a16:colId xmlns:a16="http://schemas.microsoft.com/office/drawing/2014/main" val="4118980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Количество токенов из словаря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Из них уникальных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Доля в </a:t>
                      </a:r>
                      <a:r>
                        <a:rPr lang="ru-RU" sz="1600" kern="100" dirty="0" err="1">
                          <a:effectLst/>
                        </a:rPr>
                        <a:t>сэмпле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Среднее количество токенов из словаря на публикацию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 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459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1405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475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0.055018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1.277273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 err="1">
                          <a:effectLst/>
                        </a:rPr>
                        <a:t>Сэмпл</a:t>
                      </a:r>
                      <a:r>
                        <a:rPr lang="ru-RU" sz="1600" kern="100" dirty="0">
                          <a:effectLst/>
                        </a:rPr>
                        <a:t> 1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2401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1347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457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0.052351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1.224545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 err="1">
                          <a:effectLst/>
                        </a:rPr>
                        <a:t>Сэмпл</a:t>
                      </a:r>
                      <a:r>
                        <a:rPr lang="ru-RU" sz="1600" kern="100" dirty="0">
                          <a:effectLst/>
                        </a:rPr>
                        <a:t> 2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6263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1389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474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>
                          <a:effectLst/>
                        </a:rPr>
                        <a:t>0.05542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1.262727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 err="1">
                          <a:effectLst/>
                        </a:rPr>
                        <a:t>Сэмпл</a:t>
                      </a:r>
                      <a:r>
                        <a:rPr lang="ru-RU" sz="1600" kern="100" dirty="0">
                          <a:effectLst/>
                        </a:rPr>
                        <a:t> 3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43115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1A442D-4A40-FF0A-E8AC-19001352A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16555"/>
              </p:ext>
            </p:extLst>
          </p:nvPr>
        </p:nvGraphicFramePr>
        <p:xfrm>
          <a:off x="1371600" y="4951186"/>
          <a:ext cx="6799944" cy="146304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426778970"/>
                    </a:ext>
                  </a:extLst>
                </a:gridCol>
                <a:gridCol w="1709058">
                  <a:extLst>
                    <a:ext uri="{9D8B030D-6E8A-4147-A177-3AD203B41FA5}">
                      <a16:colId xmlns:a16="http://schemas.microsoft.com/office/drawing/2014/main" val="1380332869"/>
                    </a:ext>
                  </a:extLst>
                </a:gridCol>
                <a:gridCol w="1699986">
                  <a:extLst>
                    <a:ext uri="{9D8B030D-6E8A-4147-A177-3AD203B41FA5}">
                      <a16:colId xmlns:a16="http://schemas.microsoft.com/office/drawing/2014/main" val="3407407402"/>
                    </a:ext>
                  </a:extLst>
                </a:gridCol>
                <a:gridCol w="1699986">
                  <a:extLst>
                    <a:ext uri="{9D8B030D-6E8A-4147-A177-3AD203B41FA5}">
                      <a16:colId xmlns:a16="http://schemas.microsoft.com/office/drawing/2014/main" val="32589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Количество токенов из словаря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Из них уникальных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Доля в </a:t>
                      </a:r>
                      <a:r>
                        <a:rPr lang="ru-RU" sz="1600" kern="100" dirty="0" err="1">
                          <a:effectLst/>
                        </a:rPr>
                        <a:t>сэмпле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kern="100" dirty="0">
                          <a:effectLst/>
                        </a:rPr>
                        <a:t>Среднее количество токенов из словаря на публикацию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494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kern="100">
                          <a:effectLst/>
                        </a:rPr>
                        <a:t>1865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600" kern="100">
                          <a:effectLst/>
                        </a:rPr>
                        <a:t>399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600" kern="100">
                          <a:effectLst/>
                        </a:rPr>
                        <a:t>0.076225</a:t>
                      </a:r>
                      <a:endParaRPr lang="en-RU" sz="16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600" kern="100" dirty="0">
                          <a:effectLst/>
                        </a:rPr>
                        <a:t>2.007535</a:t>
                      </a:r>
                      <a:endParaRPr lang="en-RU" sz="16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91829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E3B53F3-8DDD-7EF9-E2A9-89D2403F3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09486" y="166914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4BBE0-638B-9AC1-93D1-D76865DF5877}"/>
              </a:ext>
            </a:extLst>
          </p:cNvPr>
          <p:cNvSpPr txBox="1"/>
          <p:nvPr/>
        </p:nvSpPr>
        <p:spPr>
          <a:xfrm>
            <a:off x="1371600" y="1906814"/>
            <a:ext cx="3145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</a:t>
            </a:r>
            <a:r>
              <a:rPr lang="ru-RU" dirty="0" err="1"/>
              <a:t>сэмплов</a:t>
            </a:r>
            <a:r>
              <a:rPr lang="ru-RU" dirty="0"/>
              <a:t> «Родного Звука»:</a:t>
            </a:r>
            <a:endParaRPr lang="en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284BE-538F-B8CB-6EDD-3072A8979494}"/>
              </a:ext>
            </a:extLst>
          </p:cNvPr>
          <p:cNvSpPr txBox="1"/>
          <p:nvPr/>
        </p:nvSpPr>
        <p:spPr>
          <a:xfrm>
            <a:off x="1371600" y="4581854"/>
            <a:ext cx="231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корпуса лейблов: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11474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AB45-4390-1899-89A3-0F024DFB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dirty="0"/>
              <a:t>Эмотивная лексика</a:t>
            </a:r>
            <a:endParaRPr lang="en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6FA5B1-A71A-68A2-41F3-D30012B2B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168" y="2485913"/>
            <a:ext cx="5718979" cy="29346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EBDB4F-5416-077C-D0C2-945B1E9AC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147" y="2485913"/>
            <a:ext cx="5718980" cy="29346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20F925-851E-3FB6-C9B8-946BA6DFBB29}"/>
              </a:ext>
            </a:extLst>
          </p:cNvPr>
          <p:cNvSpPr txBox="1"/>
          <p:nvPr/>
        </p:nvSpPr>
        <p:spPr>
          <a:xfrm>
            <a:off x="763168" y="5550068"/>
            <a:ext cx="3133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Сэмплы</a:t>
            </a:r>
            <a:r>
              <a:rPr lang="ru-RU" dirty="0"/>
              <a:t> независимого медиа</a:t>
            </a:r>
            <a:endParaRPr lang="en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80CAE-7E97-E7FC-7AC6-BFA12BC640A9}"/>
              </a:ext>
            </a:extLst>
          </p:cNvPr>
          <p:cNvSpPr txBox="1"/>
          <p:nvPr/>
        </p:nvSpPr>
        <p:spPr>
          <a:xfrm>
            <a:off x="6538969" y="5513218"/>
            <a:ext cx="1755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Корпус лейблов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28021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E576-CCE6-9FB3-3342-EE774428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Главные результаты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637DC-EF5B-A14A-48CA-96EBFCA8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Значение </a:t>
            </a:r>
            <a:r>
              <a:rPr lang="en-US" dirty="0"/>
              <a:t>TTR </a:t>
            </a:r>
            <a:r>
              <a:rPr lang="ru-RU" dirty="0"/>
              <a:t>выше для </a:t>
            </a:r>
            <a:r>
              <a:rPr lang="ru-RU" dirty="0" err="1"/>
              <a:t>сэмплов</a:t>
            </a:r>
            <a:r>
              <a:rPr lang="ru-RU" dirty="0"/>
              <a:t> независимого медиа по сравнению с корпусом лейблов.</a:t>
            </a:r>
          </a:p>
          <a:p>
            <a:r>
              <a:rPr lang="ru-RU" dirty="0"/>
              <a:t>Тексты в корпусе лейблов более насыщены эмотивной лексикой (доля </a:t>
            </a:r>
            <a:r>
              <a:rPr lang="en-US" dirty="0"/>
              <a:t>~0,076 VS ~0</a:t>
            </a:r>
            <a:r>
              <a:rPr lang="ru-RU" dirty="0"/>
              <a:t>,</a:t>
            </a:r>
            <a:r>
              <a:rPr lang="en-US" dirty="0"/>
              <a:t>054),</a:t>
            </a:r>
            <a:r>
              <a:rPr lang="ru-RU" dirty="0"/>
              <a:t> но она менее разнообразна.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98853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3FA9-D432-38AC-22FD-FE475EEC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Синтаксис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E036CA-22D3-E534-19C2-0C5EBBBFF8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82839"/>
              </p:ext>
            </p:extLst>
          </p:nvPr>
        </p:nvGraphicFramePr>
        <p:xfrm>
          <a:off x="1371600" y="2278742"/>
          <a:ext cx="3816894" cy="323922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08447">
                  <a:extLst>
                    <a:ext uri="{9D8B030D-6E8A-4147-A177-3AD203B41FA5}">
                      <a16:colId xmlns:a16="http://schemas.microsoft.com/office/drawing/2014/main" val="4048961435"/>
                    </a:ext>
                  </a:extLst>
                </a:gridCol>
                <a:gridCol w="1908447">
                  <a:extLst>
                    <a:ext uri="{9D8B030D-6E8A-4147-A177-3AD203B41FA5}">
                      <a16:colId xmlns:a16="http://schemas.microsoft.com/office/drawing/2014/main" val="2172301510"/>
                    </a:ext>
                  </a:extLst>
                </a:gridCol>
              </a:tblGrid>
              <a:tr h="2944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 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Корпус лейблов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8247620"/>
                  </a:ext>
                </a:extLst>
              </a:tr>
              <a:tr h="588950"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Среднее количество зависимых групп на предложение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5.510239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0207342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(Стандартое отклонение)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2.632801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4671803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(Коэффициент вариации)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0.477802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2856001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(Медианное значение)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5.0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4683062"/>
                  </a:ext>
                </a:extLst>
              </a:tr>
              <a:tr h="58895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Среднее количество зависимых слов на управляющее слово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2.229281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6688323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(Стандартое отклонение)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0.434264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8476945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(Коэффициент вариации)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0.1948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0063556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(Медианное значение)</a:t>
                      </a:r>
                      <a:endParaRPr lang="en-RU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2.222222</a:t>
                      </a:r>
                      <a:endParaRPr lang="en-RU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50453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B6337B-3853-66FC-9068-65111A93B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450476"/>
              </p:ext>
            </p:extLst>
          </p:nvPr>
        </p:nvGraphicFramePr>
        <p:xfrm>
          <a:off x="5801212" y="2258339"/>
          <a:ext cx="6056960" cy="325962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775245">
                  <a:extLst>
                    <a:ext uri="{9D8B030D-6E8A-4147-A177-3AD203B41FA5}">
                      <a16:colId xmlns:a16="http://schemas.microsoft.com/office/drawing/2014/main" val="3857376695"/>
                    </a:ext>
                  </a:extLst>
                </a:gridCol>
                <a:gridCol w="1349829">
                  <a:extLst>
                    <a:ext uri="{9D8B030D-6E8A-4147-A177-3AD203B41FA5}">
                      <a16:colId xmlns:a16="http://schemas.microsoft.com/office/drawing/2014/main" val="2318283184"/>
                    </a:ext>
                  </a:extLst>
                </a:gridCol>
                <a:gridCol w="1553028">
                  <a:extLst>
                    <a:ext uri="{9D8B030D-6E8A-4147-A177-3AD203B41FA5}">
                      <a16:colId xmlns:a16="http://schemas.microsoft.com/office/drawing/2014/main" val="1937866591"/>
                    </a:ext>
                  </a:extLst>
                </a:gridCol>
                <a:gridCol w="1378858">
                  <a:extLst>
                    <a:ext uri="{9D8B030D-6E8A-4147-A177-3AD203B41FA5}">
                      <a16:colId xmlns:a16="http://schemas.microsoft.com/office/drawing/2014/main" val="978346701"/>
                    </a:ext>
                  </a:extLst>
                </a:gridCol>
              </a:tblGrid>
              <a:tr h="147238"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 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Сэмпл 1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Сэмпл 2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Сэмпл 3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892767805"/>
                  </a:ext>
                </a:extLst>
              </a:tr>
              <a:tr h="588950"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Среднее количество зависимых групп на предложение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5.051388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5.195459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5.077681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4005460095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100" kern="100" dirty="0">
                          <a:effectLst/>
                        </a:rPr>
                        <a:t>(</a:t>
                      </a:r>
                      <a:r>
                        <a:rPr lang="ru-RU" sz="1100" kern="100" dirty="0" err="1">
                          <a:effectLst/>
                        </a:rPr>
                        <a:t>Стандартое</a:t>
                      </a:r>
                      <a:r>
                        <a:rPr lang="ru-RU" sz="1100" kern="100" dirty="0">
                          <a:effectLst/>
                        </a:rPr>
                        <a:t> отклонение)</a:t>
                      </a:r>
                      <a:endParaRPr lang="en-RU" sz="11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 dirty="0">
                          <a:effectLst/>
                        </a:rPr>
                        <a:t>2.76414</a:t>
                      </a:r>
                      <a:endParaRPr lang="en-RU" sz="11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2.885229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2.72482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3519357582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(Коэффициент вариации)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0.547204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0.555337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0.536627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067198719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(Медианное значение)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4.6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4.845238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4.6125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3690076477"/>
                  </a:ext>
                </a:extLst>
              </a:tr>
              <a:tr h="736188"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Среднее количество зависимых слов на управляющее слово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 dirty="0">
                          <a:effectLst/>
                        </a:rPr>
                        <a:t>2.276342</a:t>
                      </a:r>
                      <a:endParaRPr lang="en-RU" sz="11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2.266516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2.265488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3430331521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(Стандартое отклонение)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0.454389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0.432598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0.488454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1438313420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(Коэффициент вариации)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0.199614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0.190865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0.215606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3347373933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(Медианное значение)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2.25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>
                          <a:effectLst/>
                        </a:rPr>
                        <a:t>2.25</a:t>
                      </a:r>
                      <a:endParaRPr lang="en-RU" sz="11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tc>
                  <a:txBody>
                    <a:bodyPr/>
                    <a:lstStyle/>
                    <a:p>
                      <a:r>
                        <a:rPr lang="ru-RU" sz="1100" kern="100" dirty="0">
                          <a:effectLst/>
                        </a:rPr>
                        <a:t>2.238095</a:t>
                      </a:r>
                      <a:endParaRPr lang="en-RU" sz="11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1047" marR="61047" marT="0" marB="0"/>
                </a:tc>
                <a:extLst>
                  <a:ext uri="{0D108BD9-81ED-4DB2-BD59-A6C34878D82A}">
                    <a16:rowId xmlns:a16="http://schemas.microsoft.com/office/drawing/2014/main" val="73284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19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470D-A6AC-5492-6223-B259E203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Синтаксис: типы зависимостей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EBB103-A190-8A2F-42A3-44CEE59176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718887"/>
              </p:ext>
            </p:extLst>
          </p:nvPr>
        </p:nvGraphicFramePr>
        <p:xfrm>
          <a:off x="1371600" y="2650670"/>
          <a:ext cx="4521200" cy="251641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4271457982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182264779"/>
                    </a:ext>
                  </a:extLst>
                </a:gridCol>
              </a:tblGrid>
              <a:tr h="419403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tag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combined_score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8357135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 dirty="0" err="1">
                          <a:effectLst/>
                        </a:rPr>
                        <a:t>obl:agent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-3.993509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1976443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csubj:pass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-3.993509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9884499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 dirty="0" err="1">
                          <a:effectLst/>
                        </a:rPr>
                        <a:t>punct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-3.638108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811259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flat:foreign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-2.607658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1656011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appos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-1.485011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017389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B8D2F0-AE37-EC80-4AB3-A76427C2E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119800"/>
              </p:ext>
            </p:extLst>
          </p:nvPr>
        </p:nvGraphicFramePr>
        <p:xfrm>
          <a:off x="6510019" y="2650670"/>
          <a:ext cx="4521200" cy="251641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3965465781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318889763"/>
                    </a:ext>
                  </a:extLst>
                </a:gridCol>
              </a:tblGrid>
              <a:tr h="419403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tag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combined_score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2327918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acl:relcl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2.1988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8237673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 dirty="0" err="1">
                          <a:effectLst/>
                        </a:rPr>
                        <a:t>obl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1.850347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2050470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obj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1.561009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2222255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 dirty="0" err="1">
                          <a:effectLst/>
                        </a:rPr>
                        <a:t>nsubj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1.486598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2459381"/>
                  </a:ext>
                </a:extLst>
              </a:tr>
              <a:tr h="419403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xcomp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1.252924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08500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E1D96F-F95E-4412-6523-87BCC9BBCA0A}"/>
              </a:ext>
            </a:extLst>
          </p:cNvPr>
          <p:cNvSpPr txBox="1"/>
          <p:nvPr/>
        </p:nvSpPr>
        <p:spPr>
          <a:xfrm>
            <a:off x="1378857" y="5558971"/>
            <a:ext cx="451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Типы зависимостей с наибольшим перевесом в сторону </a:t>
            </a:r>
            <a:r>
              <a:rPr lang="ru-RU" dirty="0" err="1"/>
              <a:t>сэмплов</a:t>
            </a:r>
            <a:r>
              <a:rPr lang="ru-RU" dirty="0"/>
              <a:t> независимого медиа</a:t>
            </a:r>
            <a:endParaRPr lang="en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462CD-9F3D-5C6E-E183-DC02FC4385E9}"/>
              </a:ext>
            </a:extLst>
          </p:cNvPr>
          <p:cNvSpPr txBox="1"/>
          <p:nvPr/>
        </p:nvSpPr>
        <p:spPr>
          <a:xfrm>
            <a:off x="6458857" y="5558971"/>
            <a:ext cx="4513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Типы зависимостей с наибольшим перевесом в сторону корпусов лейблов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611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E576-CCE6-9FB3-3342-EE774428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Главные результаты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637DC-EF5B-A14A-48CA-96EBFCA89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405086"/>
          </a:xfrm>
        </p:spPr>
        <p:txBody>
          <a:bodyPr/>
          <a:lstStyle/>
          <a:p>
            <a:r>
              <a:rPr lang="ru-RU" dirty="0"/>
              <a:t>Значение </a:t>
            </a:r>
            <a:r>
              <a:rPr lang="en-US" dirty="0"/>
              <a:t>TTR </a:t>
            </a:r>
            <a:r>
              <a:rPr lang="ru-RU" dirty="0"/>
              <a:t>выше для </a:t>
            </a:r>
            <a:r>
              <a:rPr lang="ru-RU" dirty="0" err="1"/>
              <a:t>сэмплов</a:t>
            </a:r>
            <a:r>
              <a:rPr lang="ru-RU" dirty="0"/>
              <a:t> независимого медиа по сравнению с корпусом лейблов.</a:t>
            </a:r>
          </a:p>
          <a:p>
            <a:r>
              <a:rPr lang="ru-RU" dirty="0"/>
              <a:t>Тексты в корпусе лейблов более насыщены эмотивной лексикой (доля </a:t>
            </a:r>
            <a:r>
              <a:rPr lang="en-US" dirty="0"/>
              <a:t>~0,076 VS ~0</a:t>
            </a:r>
            <a:r>
              <a:rPr lang="ru-RU" dirty="0"/>
              <a:t>,</a:t>
            </a:r>
            <a:r>
              <a:rPr lang="en-US" dirty="0"/>
              <a:t>054),</a:t>
            </a:r>
            <a:r>
              <a:rPr lang="ru-RU" dirty="0"/>
              <a:t> но она менее разнообразна.</a:t>
            </a:r>
          </a:p>
          <a:p>
            <a:r>
              <a:rPr lang="ru-RU" dirty="0"/>
              <a:t>Оба корпуса схожи в сложности синтаксиса, но можно выделить различия в типах зависимостей: </a:t>
            </a:r>
            <a:r>
              <a:rPr lang="ru-RU" dirty="0" err="1"/>
              <a:t>сэмплы</a:t>
            </a:r>
            <a:r>
              <a:rPr lang="ru-RU" dirty="0"/>
              <a:t> независимого лейбла тяготеют к информационному стилю (пассивные конструкции, уточняющие приложения), в то время как корпус лейблов более повествовательный, описательный (больше относительных придаточных, активных конструкций).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48286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D880-D930-C7BE-0312-06C609C66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Именованные сущности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992C6-310B-9102-D423-9F5A21B9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Независимое медиа:</a:t>
            </a:r>
          </a:p>
          <a:p>
            <a:pPr lvl="1"/>
            <a:r>
              <a:rPr lang="ru-RU" dirty="0"/>
              <a:t>Количество именованных сущностей в </a:t>
            </a:r>
            <a:r>
              <a:rPr lang="ru-RU" dirty="0" err="1"/>
              <a:t>сэмпле</a:t>
            </a:r>
            <a:r>
              <a:rPr lang="ru-RU" dirty="0"/>
              <a:t> 1: 2167 </a:t>
            </a:r>
          </a:p>
          <a:p>
            <a:pPr lvl="1"/>
            <a:r>
              <a:rPr lang="ru-RU" dirty="0"/>
              <a:t>Количество именованных сущностей в </a:t>
            </a:r>
            <a:r>
              <a:rPr lang="ru-RU" dirty="0" err="1"/>
              <a:t>сэмпле</a:t>
            </a:r>
            <a:r>
              <a:rPr lang="ru-RU" dirty="0"/>
              <a:t> 2: 2170 </a:t>
            </a:r>
          </a:p>
          <a:p>
            <a:pPr lvl="1"/>
            <a:r>
              <a:rPr lang="ru-RU" dirty="0"/>
              <a:t>Количество именованных сущностей в </a:t>
            </a:r>
            <a:r>
              <a:rPr lang="ru-RU" dirty="0" err="1"/>
              <a:t>сэмпле</a:t>
            </a:r>
            <a:r>
              <a:rPr lang="ru-RU" dirty="0"/>
              <a:t> 3: 2071</a:t>
            </a:r>
          </a:p>
          <a:p>
            <a:r>
              <a:rPr lang="ru-RU" dirty="0"/>
              <a:t>Корпус лейблов:</a:t>
            </a:r>
          </a:p>
          <a:p>
            <a:pPr lvl="1"/>
            <a:r>
              <a:rPr lang="ru-RU" dirty="0"/>
              <a:t>Количество именованных сущностей в корпусе лейблов: 1323</a:t>
            </a:r>
          </a:p>
        </p:txBody>
      </p:sp>
    </p:spTree>
    <p:extLst>
      <p:ext uri="{BB962C8B-B14F-4D97-AF65-F5344CB8AC3E}">
        <p14:creationId xmlns:p14="http://schemas.microsoft.com/office/powerpoint/2010/main" val="236900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693D-A666-2CF0-839D-F045766A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Именованные сущности: категории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81666C-E92D-C5FF-58AF-5F16DA05B0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79508"/>
              </p:ext>
            </p:extLst>
          </p:nvPr>
        </p:nvGraphicFramePr>
        <p:xfrm>
          <a:off x="1371600" y="2476047"/>
          <a:ext cx="4144192" cy="274410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072096">
                  <a:extLst>
                    <a:ext uri="{9D8B030D-6E8A-4147-A177-3AD203B41FA5}">
                      <a16:colId xmlns:a16="http://schemas.microsoft.com/office/drawing/2014/main" val="1940624194"/>
                    </a:ext>
                  </a:extLst>
                </a:gridCol>
                <a:gridCol w="2072096">
                  <a:extLst>
                    <a:ext uri="{9D8B030D-6E8A-4147-A177-3AD203B41FA5}">
                      <a16:colId xmlns:a16="http://schemas.microsoft.com/office/drawing/2014/main" val="3928124521"/>
                    </a:ext>
                  </a:extLst>
                </a:gridCol>
              </a:tblGrid>
              <a:tr h="548821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tag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 dirty="0" err="1">
                          <a:effectLst/>
                        </a:rPr>
                        <a:t>rel_freq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0359973"/>
                  </a:ext>
                </a:extLst>
              </a:tr>
              <a:tr h="548821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MISC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0.307268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8239621"/>
                  </a:ext>
                </a:extLst>
              </a:tr>
              <a:tr h="548821"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PER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0.30487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4165045"/>
                  </a:ext>
                </a:extLst>
              </a:tr>
              <a:tr h="548821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ORG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0.213383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3849944"/>
                  </a:ext>
                </a:extLst>
              </a:tr>
              <a:tr h="548821"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LOC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0.174479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73179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9D009C-6C95-3E2C-6D07-775C81AE5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247830"/>
              </p:ext>
            </p:extLst>
          </p:nvPr>
        </p:nvGraphicFramePr>
        <p:xfrm>
          <a:off x="6828608" y="2476046"/>
          <a:ext cx="4144192" cy="274410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072096">
                  <a:extLst>
                    <a:ext uri="{9D8B030D-6E8A-4147-A177-3AD203B41FA5}">
                      <a16:colId xmlns:a16="http://schemas.microsoft.com/office/drawing/2014/main" val="1362383281"/>
                    </a:ext>
                  </a:extLst>
                </a:gridCol>
                <a:gridCol w="2072096">
                  <a:extLst>
                    <a:ext uri="{9D8B030D-6E8A-4147-A177-3AD203B41FA5}">
                      <a16:colId xmlns:a16="http://schemas.microsoft.com/office/drawing/2014/main" val="2994169285"/>
                    </a:ext>
                  </a:extLst>
                </a:gridCol>
              </a:tblGrid>
              <a:tr h="548821"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tag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rel_freq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4359443"/>
                  </a:ext>
                </a:extLst>
              </a:tr>
              <a:tr h="548821"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MISC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0.470899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6699198"/>
                  </a:ext>
                </a:extLst>
              </a:tr>
              <a:tr h="548821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PER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0.322751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9869635"/>
                  </a:ext>
                </a:extLst>
              </a:tr>
              <a:tr h="548821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ORG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0.163265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9340326"/>
                  </a:ext>
                </a:extLst>
              </a:tr>
              <a:tr h="548821">
                <a:tc>
                  <a:txBody>
                    <a:bodyPr/>
                    <a:lstStyle/>
                    <a:p>
                      <a:r>
                        <a:rPr lang="en-US" sz="1800" kern="100">
                          <a:effectLst/>
                        </a:rPr>
                        <a:t>LOC</a:t>
                      </a:r>
                      <a:endParaRPr lang="en-RU" sz="18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</a:rPr>
                        <a:t>0.043084</a:t>
                      </a:r>
                      <a:endParaRPr lang="en-RU" sz="18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71150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488EFBB-29BA-BFDC-DD1B-04AEF45CF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220" y="-1447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9489C-84D2-BD99-A72F-4AFDBF052B46}"/>
              </a:ext>
            </a:extLst>
          </p:cNvPr>
          <p:cNvSpPr txBox="1"/>
          <p:nvPr/>
        </p:nvSpPr>
        <p:spPr>
          <a:xfrm>
            <a:off x="1371600" y="5524499"/>
            <a:ext cx="3133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Сэмплы</a:t>
            </a:r>
            <a:r>
              <a:rPr lang="ru-RU" dirty="0"/>
              <a:t> независимого медиа</a:t>
            </a:r>
            <a:endParaRPr lang="en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59608-5B99-9521-BE11-398DFA52D2B9}"/>
              </a:ext>
            </a:extLst>
          </p:cNvPr>
          <p:cNvSpPr txBox="1"/>
          <p:nvPr/>
        </p:nvSpPr>
        <p:spPr>
          <a:xfrm>
            <a:off x="6828608" y="5524497"/>
            <a:ext cx="1755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Корпус лейблов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78735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A0EE-060F-556B-2F1D-A67844C0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Именованные сущности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4C093-159E-3209-BE81-F555B4194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048513"/>
              </p:ext>
            </p:extLst>
          </p:nvPr>
        </p:nvGraphicFramePr>
        <p:xfrm>
          <a:off x="9096828" y="1977572"/>
          <a:ext cx="2547257" cy="4548411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895826">
                  <a:extLst>
                    <a:ext uri="{9D8B030D-6E8A-4147-A177-3AD203B41FA5}">
                      <a16:colId xmlns:a16="http://schemas.microsoft.com/office/drawing/2014/main" val="3457398836"/>
                    </a:ext>
                  </a:extLst>
                </a:gridCol>
                <a:gridCol w="651431">
                  <a:extLst>
                    <a:ext uri="{9D8B030D-6E8A-4147-A177-3AD203B41FA5}">
                      <a16:colId xmlns:a16="http://schemas.microsoft.com/office/drawing/2014/main" val="267776858"/>
                    </a:ext>
                  </a:extLst>
                </a:gridCol>
              </a:tblGrid>
              <a:tr h="216591">
                <a:tc>
                  <a:txBody>
                    <a:bodyPr/>
                    <a:lstStyle/>
                    <a:p>
                      <a:r>
                        <a:rPr lang="en-US" sz="1400" kern="100" dirty="0" err="1">
                          <a:effectLst/>
                        </a:rPr>
                        <a:t>ner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freq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1241844992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меланхоличный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18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3495235050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лиричный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11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556223816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</a:rPr>
                        <a:t>('</a:t>
                      </a:r>
                      <a:r>
                        <a:rPr lang="ru-RU" sz="1400" kern="100" dirty="0">
                          <a:effectLst/>
                        </a:rPr>
                        <a:t>сериал</a:t>
                      </a:r>
                      <a:r>
                        <a:rPr lang="en-US" sz="1400" kern="100" dirty="0">
                          <a:effectLst/>
                        </a:rPr>
                        <a:t>', '</a:t>
                      </a:r>
                      <a:r>
                        <a:rPr lang="ru-RU" sz="1400" kern="100" dirty="0">
                          <a:effectLst/>
                        </a:rPr>
                        <a:t>плакса</a:t>
                      </a:r>
                      <a:r>
                        <a:rPr lang="en-US" sz="1400" kern="100" dirty="0">
                          <a:effectLst/>
                        </a:rPr>
                        <a:t>')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11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3502109560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</a:rPr>
                        <a:t>music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11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2475748030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</a:rPr>
                        <a:t>('the', 'hat', 'music')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10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2905565844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('</a:t>
                      </a:r>
                      <a:r>
                        <a:rPr lang="ru-RU" sz="1400" kern="100" dirty="0" err="1">
                          <a:effectLst/>
                        </a:rPr>
                        <a:t>ваня</a:t>
                      </a:r>
                      <a:r>
                        <a:rPr lang="ru-RU" sz="1400" kern="100" dirty="0">
                          <a:effectLst/>
                        </a:rPr>
                        <a:t>', '</a:t>
                      </a:r>
                      <a:r>
                        <a:rPr lang="ru-RU" sz="1400" kern="100" dirty="0" err="1">
                          <a:effectLst/>
                        </a:rPr>
                        <a:t>дмитриенко</a:t>
                      </a:r>
                      <a:r>
                        <a:rPr lang="ru-RU" sz="1400" kern="100" dirty="0">
                          <a:effectLst/>
                        </a:rPr>
                        <a:t>')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4133853137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трек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1052569835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('сергей', 'жуков')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9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3822553865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('рука', 'вверх!')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4071958135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zaelo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9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13452769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леся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2930819336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ваня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4135147358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святой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3604818128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('коста', 'лакоста')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1438604764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niletto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8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1505798559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azzi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2604523698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tiktok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8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1410240404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goshu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7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922997500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артист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7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234950123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медитативный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7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3954" marR="63954" marT="0" marB="0"/>
                </a:tc>
                <a:extLst>
                  <a:ext uri="{0D108BD9-81ED-4DB2-BD59-A6C34878D82A}">
                    <a16:rowId xmlns:a16="http://schemas.microsoft.com/office/drawing/2014/main" val="20783249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0AC23C-4748-2568-4670-A48BAB250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68083"/>
              </p:ext>
            </p:extLst>
          </p:nvPr>
        </p:nvGraphicFramePr>
        <p:xfrm>
          <a:off x="1219200" y="1953986"/>
          <a:ext cx="7401873" cy="4585077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860742">
                  <a:extLst>
                    <a:ext uri="{9D8B030D-6E8A-4147-A177-3AD203B41FA5}">
                      <a16:colId xmlns:a16="http://schemas.microsoft.com/office/drawing/2014/main" val="1752661315"/>
                    </a:ext>
                  </a:extLst>
                </a:gridCol>
                <a:gridCol w="605451">
                  <a:extLst>
                    <a:ext uri="{9D8B030D-6E8A-4147-A177-3AD203B41FA5}">
                      <a16:colId xmlns:a16="http://schemas.microsoft.com/office/drawing/2014/main" val="23743427"/>
                    </a:ext>
                  </a:extLst>
                </a:gridCol>
                <a:gridCol w="1813312">
                  <a:extLst>
                    <a:ext uri="{9D8B030D-6E8A-4147-A177-3AD203B41FA5}">
                      <a16:colId xmlns:a16="http://schemas.microsoft.com/office/drawing/2014/main" val="2080428206"/>
                    </a:ext>
                  </a:extLst>
                </a:gridCol>
                <a:gridCol w="654528">
                  <a:extLst>
                    <a:ext uri="{9D8B030D-6E8A-4147-A177-3AD203B41FA5}">
                      <a16:colId xmlns:a16="http://schemas.microsoft.com/office/drawing/2014/main" val="3110550607"/>
                    </a:ext>
                  </a:extLst>
                </a:gridCol>
                <a:gridCol w="1870350">
                  <a:extLst>
                    <a:ext uri="{9D8B030D-6E8A-4147-A177-3AD203B41FA5}">
                      <a16:colId xmlns:a16="http://schemas.microsoft.com/office/drawing/2014/main" val="2988237698"/>
                    </a:ext>
                  </a:extLst>
                </a:gridCol>
                <a:gridCol w="597490">
                  <a:extLst>
                    <a:ext uri="{9D8B030D-6E8A-4147-A177-3AD203B41FA5}">
                      <a16:colId xmlns:a16="http://schemas.microsoft.com/office/drawing/2014/main" val="910008220"/>
                    </a:ext>
                  </a:extLst>
                </a:gridCol>
              </a:tblGrid>
              <a:tr h="208947">
                <a:tc>
                  <a:txBody>
                    <a:bodyPr/>
                    <a:lstStyle/>
                    <a:p>
                      <a:r>
                        <a:rPr lang="en-US" sz="1400" kern="100" dirty="0" err="1">
                          <a:effectLst/>
                        </a:rPr>
                        <a:t>ner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freq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ner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freq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ner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freq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1398961790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 dirty="0" err="1">
                          <a:effectLst/>
                        </a:rPr>
                        <a:t>москва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москва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41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москва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45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1208995870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 dirty="0" err="1">
                          <a:effectLst/>
                        </a:rPr>
                        <a:t>петербург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rnb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санкт-петербург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20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4145097325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россия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18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санкт-петербург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россия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13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3736062992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питер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15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русский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15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петербург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12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2759737865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rnb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14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московский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13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московский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11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1406080216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сбпча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12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питер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12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rnb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166672925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екатеринбург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12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россия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русский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2638242174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московский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12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минск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('слово', 'группа')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2979776893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русский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11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('слово', 'артист')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киев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3554892545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('слово', 'артист')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уфа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красноярск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3658727661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('слово', 'музыкант')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10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 err="1">
                          <a:effectLst/>
                        </a:rPr>
                        <a:t>новосибирск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питер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1437096235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санкт-петербург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9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сбпча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кино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1970268268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минск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петербург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</a:t>
                      </a:r>
                      <a:r>
                        <a:rPr lang="en-US" sz="1400" kern="100">
                          <a:effectLst/>
                        </a:rPr>
                        <a:t>cream</a:t>
                      </a:r>
                      <a:r>
                        <a:rPr lang="ru-RU" sz="1400" kern="100">
                          <a:effectLst/>
                        </a:rPr>
                        <a:t>', '</a:t>
                      </a:r>
                      <a:r>
                        <a:rPr lang="en-US" sz="1400" kern="100">
                          <a:effectLst/>
                        </a:rPr>
                        <a:t>soda</a:t>
                      </a:r>
                      <a:r>
                        <a:rPr lang="ru-RU" sz="1400" kern="100">
                          <a:effectLst/>
                        </a:rPr>
                        <a:t>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452926218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воронеж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8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буерак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6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ростов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659479979"/>
                  </a:ext>
                </a:extLst>
              </a:tr>
              <a:tr h="289212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('синекдоха', 'монток')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en-US" sz="1400" kern="100">
                          <a:effectLst/>
                        </a:rPr>
                        <a:t>starcardigan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6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 err="1">
                          <a:effectLst/>
                        </a:rPr>
                        <a:t>скриптонит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4141340763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дельфин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7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('синекдоха', 'монток')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 err="1">
                          <a:effectLst/>
                        </a:rPr>
                        <a:t>монеточка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3248813197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киев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дорн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 err="1">
                          <a:effectLst/>
                        </a:rPr>
                        <a:t>екатеринбург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3247883309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каста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</a:t>
                      </a:r>
                      <a:r>
                        <a:rPr lang="en-US" sz="1400" kern="100">
                          <a:effectLst/>
                        </a:rPr>
                        <a:t>the</a:t>
                      </a:r>
                      <a:r>
                        <a:rPr lang="ru-RU" sz="1400" kern="100">
                          <a:effectLst/>
                        </a:rPr>
                        <a:t>', '</a:t>
                      </a:r>
                      <a:r>
                        <a:rPr lang="en-US" sz="1400" kern="100">
                          <a:effectLst/>
                        </a:rPr>
                        <a:t>weeknd</a:t>
                      </a:r>
                      <a:r>
                        <a:rPr lang="ru-RU" sz="1400" kern="100">
                          <a:effectLst/>
                        </a:rPr>
                        <a:t>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5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 err="1">
                          <a:effectLst/>
                        </a:rPr>
                        <a:t>пасош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2399309296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('слово', 'группа')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краснодар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5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альянс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6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560690735"/>
                  </a:ext>
                </a:extLst>
              </a:tr>
              <a:tr h="208947"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дорн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6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 err="1">
                          <a:effectLst/>
                        </a:rPr>
                        <a:t>владивосток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>
                          <a:effectLst/>
                        </a:rPr>
                        <a:t>5</a:t>
                      </a:r>
                      <a:endParaRPr lang="en-RU" sz="14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('синекдоха', '</a:t>
                      </a:r>
                      <a:r>
                        <a:rPr lang="ru-RU" sz="1400" kern="100" dirty="0" err="1">
                          <a:effectLst/>
                        </a:rPr>
                        <a:t>монток</a:t>
                      </a:r>
                      <a:r>
                        <a:rPr lang="ru-RU" sz="1400" kern="100" dirty="0">
                          <a:effectLst/>
                        </a:rPr>
                        <a:t>')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tc>
                  <a:txBody>
                    <a:bodyPr/>
                    <a:lstStyle/>
                    <a:p>
                      <a:r>
                        <a:rPr lang="ru-RU" sz="1400" kern="100" dirty="0">
                          <a:effectLst/>
                        </a:rPr>
                        <a:t>5</a:t>
                      </a:r>
                      <a:endParaRPr lang="en-RU" sz="14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7306" marR="37306" marT="0" marB="0"/>
                </a:tc>
                <a:extLst>
                  <a:ext uri="{0D108BD9-81ED-4DB2-BD59-A6C34878D82A}">
                    <a16:rowId xmlns:a16="http://schemas.microsoft.com/office/drawing/2014/main" val="2397655095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F1ACE4D6-5465-F86D-CDFC-137A35754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3" y="21034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44D4C-DAE3-0248-C142-F1D24EBFA2B9}"/>
              </a:ext>
            </a:extLst>
          </p:cNvPr>
          <p:cNvSpPr txBox="1"/>
          <p:nvPr/>
        </p:nvSpPr>
        <p:spPr>
          <a:xfrm>
            <a:off x="1219200" y="6525983"/>
            <a:ext cx="3133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Сэмплы</a:t>
            </a:r>
            <a:r>
              <a:rPr lang="ru-RU" dirty="0"/>
              <a:t> независимого медиа</a:t>
            </a:r>
            <a:endParaRPr lang="en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A2E350-643A-6C5D-E0EA-8691DE01BE9D}"/>
              </a:ext>
            </a:extLst>
          </p:cNvPr>
          <p:cNvSpPr txBox="1"/>
          <p:nvPr/>
        </p:nvSpPr>
        <p:spPr>
          <a:xfrm>
            <a:off x="9096828" y="6490769"/>
            <a:ext cx="1755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Корпус лейблов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055388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A0F6-40D5-CE78-EAD1-4048A9CF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Главные результаты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8637-FF17-2CCB-1547-2449AED01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Категория локаций среди именованных сущностей в гораздо большей степени характерна для </a:t>
            </a:r>
            <a:r>
              <a:rPr lang="ru-RU" dirty="0" err="1"/>
              <a:t>сэмплов</a:t>
            </a:r>
            <a:r>
              <a:rPr lang="ru-RU" dirty="0"/>
              <a:t> независимого медиа.</a:t>
            </a:r>
          </a:p>
        </p:txBody>
      </p:sp>
    </p:spTree>
    <p:extLst>
      <p:ext uri="{BB962C8B-B14F-4D97-AF65-F5344CB8AC3E}">
        <p14:creationId xmlns:p14="http://schemas.microsoft.com/office/powerpoint/2010/main" val="1665154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98B5-7DED-8840-DD05-87F2CF32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Распределение лексики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451C3B-1798-E62F-83BA-52E39369E1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798986"/>
              </p:ext>
            </p:extLst>
          </p:nvPr>
        </p:nvGraphicFramePr>
        <p:xfrm>
          <a:off x="1371600" y="2286000"/>
          <a:ext cx="3664857" cy="14859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21619">
                  <a:extLst>
                    <a:ext uri="{9D8B030D-6E8A-4147-A177-3AD203B41FA5}">
                      <a16:colId xmlns:a16="http://schemas.microsoft.com/office/drawing/2014/main" val="26816407"/>
                    </a:ext>
                  </a:extLst>
                </a:gridCol>
                <a:gridCol w="1221619">
                  <a:extLst>
                    <a:ext uri="{9D8B030D-6E8A-4147-A177-3AD203B41FA5}">
                      <a16:colId xmlns:a16="http://schemas.microsoft.com/office/drawing/2014/main" val="3488414436"/>
                    </a:ext>
                  </a:extLst>
                </a:gridCol>
                <a:gridCol w="1221619">
                  <a:extLst>
                    <a:ext uri="{9D8B030D-6E8A-4147-A177-3AD203B41FA5}">
                      <a16:colId xmlns:a16="http://schemas.microsoft.com/office/drawing/2014/main" val="2888563526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Корпус 1</a:t>
                      </a:r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Корпус 2</a:t>
                      </a:r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7483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ru-RU" dirty="0"/>
                        <a:t>Слово</a:t>
                      </a:r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19509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ru-RU" dirty="0"/>
                        <a:t>Не слово</a:t>
                      </a:r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7142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BF934A-F78D-46B2-DD63-2F3278C02C9E}"/>
              </a:ext>
            </a:extLst>
          </p:cNvPr>
          <p:cNvSpPr txBox="1"/>
          <p:nvPr/>
        </p:nvSpPr>
        <p:spPr>
          <a:xfrm>
            <a:off x="1371600" y="3886200"/>
            <a:ext cx="505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сопряженности для расчета хи-квадрата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06149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BF9D-5B5E-ABB9-E2F7-E7A3C47A0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Распределение лексики</a:t>
            </a:r>
            <a:endParaRPr lang="en-RU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3CCCCE-B21B-1244-7898-1DBEB642F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869370"/>
              </p:ext>
            </p:extLst>
          </p:nvPr>
        </p:nvGraphicFramePr>
        <p:xfrm>
          <a:off x="1371600" y="2009648"/>
          <a:ext cx="9601200" cy="48483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1200">
                  <a:extLst>
                    <a:ext uri="{9D8B030D-6E8A-4147-A177-3AD203B41FA5}">
                      <a16:colId xmlns:a16="http://schemas.microsoft.com/office/drawing/2014/main" val="756927066"/>
                    </a:ext>
                  </a:extLst>
                </a:gridCol>
              </a:tblGrid>
              <a:tr h="15659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dirty="0"/>
                        <a:t>{</a:t>
                      </a:r>
                      <a:r>
                        <a:rPr lang="ru-RU" sz="1600" dirty="0"/>
                        <a:t>'слово',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мини-альбом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гаражный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пресс-релиз</a:t>
                      </a:r>
                      <a:r>
                        <a:rPr lang="ru-RU" sz="1600" dirty="0"/>
                        <a:t>', 'советовать', 'наш', '</a:t>
                      </a:r>
                      <a:r>
                        <a:rPr lang="ru-RU" sz="1600" dirty="0">
                          <a:highlight>
                            <a:srgbClr val="008080"/>
                          </a:highlight>
                        </a:rPr>
                        <a:t>записать</a:t>
                      </a:r>
                      <a:r>
                        <a:rPr lang="ru-RU" sz="1600" dirty="0"/>
                        <a:t>', 'новый', 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'пост-панк</a:t>
                      </a:r>
                      <a:r>
                        <a:rPr lang="ru-RU" sz="1600" dirty="0"/>
                        <a:t>', 'первый', '</a:t>
                      </a:r>
                      <a:r>
                        <a:rPr lang="ru-RU" sz="1600" dirty="0">
                          <a:highlight>
                            <a:srgbClr val="008080"/>
                          </a:highlight>
                        </a:rPr>
                        <a:t>запись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дуэт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альбом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инструмент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клип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музыкант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FF00"/>
                          </a:highlight>
                        </a:rPr>
                        <a:t>петербургский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участник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видео</a:t>
                      </a:r>
                      <a:r>
                        <a:rPr lang="ru-RU" sz="1600" dirty="0"/>
                        <a:t>', '</a:t>
                      </a:r>
                      <a:r>
                        <a:rPr lang="en-GB" sz="1600" dirty="0" err="1">
                          <a:highlight>
                            <a:srgbClr val="00FFFF"/>
                          </a:highlight>
                        </a:rPr>
                        <a:t>rnb</a:t>
                      </a:r>
                      <a:r>
                        <a:rPr lang="en-GB" sz="1600" dirty="0"/>
                        <a:t>', '</a:t>
                      </a:r>
                      <a:r>
                        <a:rPr lang="ru-RU" sz="1600" dirty="0"/>
                        <a:t>психоделический', 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'инди-поп</a:t>
                      </a:r>
                      <a:r>
                        <a:rPr lang="ru-RU" sz="1600" dirty="0"/>
                        <a:t>', 'помощь', '</a:t>
                      </a:r>
                      <a:r>
                        <a:rPr lang="ru-RU" sz="1600" dirty="0" err="1">
                          <a:highlight>
                            <a:srgbClr val="FFFF00"/>
                          </a:highlight>
                        </a:rPr>
                        <a:t>москва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FF00"/>
                          </a:highlight>
                        </a:rPr>
                        <a:t>питерский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проект</a:t>
                      </a:r>
                      <a:r>
                        <a:rPr lang="ru-RU" sz="1600" dirty="0"/>
                        <a:t>', 'немного', '</a:t>
                      </a:r>
                      <a:r>
                        <a:rPr lang="ru-RU" sz="1600" dirty="0">
                          <a:highlight>
                            <a:srgbClr val="FFFF00"/>
                          </a:highlight>
                        </a:rPr>
                        <a:t>московский</a:t>
                      </a:r>
                      <a:r>
                        <a:rPr lang="ru-RU" sz="1600" dirty="0"/>
                        <a:t>', 'отличный', '</a:t>
                      </a:r>
                      <a:r>
                        <a:rPr lang="ru-RU" sz="1600" dirty="0" err="1"/>
                        <a:t>иван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8080"/>
                          </a:highlight>
                        </a:rPr>
                        <a:t>выпустить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фанк</a:t>
                      </a:r>
                      <a:r>
                        <a:rPr lang="ru-RU" sz="1600" dirty="0"/>
                        <a:t>', 'год', 'дебютный',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группа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пластинка</a:t>
                      </a:r>
                      <a:r>
                        <a:rPr lang="ru-RU" sz="1600" dirty="0"/>
                        <a:t>', '10', '</a:t>
                      </a:r>
                      <a:r>
                        <a:rPr lang="ru-RU" sz="1600" dirty="0">
                          <a:highlight>
                            <a:srgbClr val="C0C0C0"/>
                          </a:highlight>
                        </a:rPr>
                        <a:t>дух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 err="1">
                          <a:highlight>
                            <a:srgbClr val="FFFF00"/>
                          </a:highlight>
                        </a:rPr>
                        <a:t>санкт-петербург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электропоп</a:t>
                      </a:r>
                      <a:r>
                        <a:rPr lang="ru-RU" sz="1600" dirty="0"/>
                        <a:t>', 'русский', 'дорн'} </a:t>
                      </a:r>
                      <a:endParaRPr lang="en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851692"/>
                  </a:ext>
                </a:extLst>
              </a:tr>
              <a:tr h="2740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600" dirty="0"/>
                        <a:t>{'</a:t>
                      </a:r>
                      <a:r>
                        <a:rPr lang="ru-RU" sz="1600" dirty="0" err="1"/>
                        <a:t>буллинга</a:t>
                      </a:r>
                      <a:r>
                        <a:rPr lang="ru-RU" sz="1600" dirty="0"/>
                        <a:t>', 'борьба', 'статистика',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любовный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 err="1"/>
                        <a:t>лакоста</a:t>
                      </a:r>
                      <a:r>
                        <a:rPr lang="ru-RU" sz="1600" dirty="0"/>
                        <a:t>', 'сложный', 'современный', '</a:t>
                      </a:r>
                      <a:r>
                        <a:rPr lang="ru-RU" sz="1600" dirty="0" err="1">
                          <a:highlight>
                            <a:srgbClr val="00FFFF"/>
                          </a:highlight>
                        </a:rPr>
                        <a:t>фонк</a:t>
                      </a:r>
                      <a:r>
                        <a:rPr lang="ru-RU" sz="1600" dirty="0"/>
                        <a:t>', '</a:t>
                      </a:r>
                      <a:r>
                        <a:rPr lang="en-GB" sz="1600" dirty="0" err="1"/>
                        <a:t>zaelo</a:t>
                      </a:r>
                      <a:r>
                        <a:rPr lang="en-GB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звучание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FF"/>
                          </a:highlight>
                        </a:rPr>
                        <a:t>рассказывать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лирический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поп-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трек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FF"/>
                          </a:highlight>
                        </a:rPr>
                        <a:t>говорить</a:t>
                      </a:r>
                      <a:r>
                        <a:rPr lang="ru-RU" sz="1600" dirty="0"/>
                        <a:t>', 'холод', '</a:t>
                      </a:r>
                      <a:r>
                        <a:rPr lang="en-GB" sz="1600" dirty="0"/>
                        <a:t>music', '</a:t>
                      </a:r>
                      <a:r>
                        <a:rPr lang="ru-RU" sz="1600" dirty="0"/>
                        <a:t>плакса', 'энергичный', 'неделя', 'предстоящий', 'серия',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отношение</a:t>
                      </a:r>
                      <a:r>
                        <a:rPr lang="ru-RU" sz="1600" dirty="0"/>
                        <a:t>', 'герой', 'легендарный',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атмосфера</a:t>
                      </a:r>
                      <a:r>
                        <a:rPr lang="ru-RU" sz="1600" dirty="0"/>
                        <a:t>', '52', 'жизнь', '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поп-баллада</a:t>
                      </a:r>
                      <a:r>
                        <a:rPr lang="ru-RU" sz="1600" dirty="0"/>
                        <a:t>', 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'ностальгия</a:t>
                      </a:r>
                      <a:r>
                        <a:rPr lang="ru-RU" sz="1600" dirty="0"/>
                        <a:t>', 'сериал', 'клубный',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любовь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поп-рок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 err="1"/>
                        <a:t>ваня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жанр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FF"/>
                          </a:highlight>
                        </a:rPr>
                        <a:t>раскрывать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девушка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внутренний</a:t>
                      </a:r>
                      <a:r>
                        <a:rPr lang="ru-RU" sz="1600" dirty="0"/>
                        <a:t>', 'каждый',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романтичный</a:t>
                      </a:r>
                      <a:r>
                        <a:rPr lang="ru-RU" sz="1600" dirty="0"/>
                        <a:t>', 'поднимать', '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хип-хоп</a:t>
                      </a:r>
                      <a:r>
                        <a:rPr lang="ru-RU" sz="1600" dirty="0"/>
                        <a:t>', 'наполнить', 'доступно',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лейбл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артист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трек</a:t>
                      </a:r>
                      <a:r>
                        <a:rPr lang="ru-RU" sz="1600" dirty="0"/>
                        <a:t>', '</a:t>
                      </a:r>
                      <a:r>
                        <a:rPr lang="en-GB" sz="1600" dirty="0"/>
                        <a:t>hat', '</a:t>
                      </a:r>
                      <a:r>
                        <a:rPr lang="ru-RU" sz="1600" dirty="0"/>
                        <a:t>сталкиваться', '</a:t>
                      </a:r>
                      <a:r>
                        <a:rPr lang="ru-RU" sz="1600" dirty="0">
                          <a:highlight>
                            <a:srgbClr val="00FFFF"/>
                          </a:highlight>
                        </a:rPr>
                        <a:t>поп</a:t>
                      </a:r>
                      <a:r>
                        <a:rPr lang="ru-RU" sz="1600" dirty="0"/>
                        <a:t>', 'школьный',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эмоциональный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исполнительница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релиз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творческий</a:t>
                      </a:r>
                      <a:r>
                        <a:rPr lang="ru-RU" sz="1600" dirty="0"/>
                        <a:t>', 'яркий', '</a:t>
                      </a:r>
                      <a:r>
                        <a:rPr lang="ru-RU" sz="1600" dirty="0" err="1"/>
                        <a:t>дмитриенко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шоу-</a:t>
                      </a:r>
                      <a:r>
                        <a:rPr lang="ru-RU" sz="1600" dirty="0" err="1">
                          <a:highlight>
                            <a:srgbClr val="008000"/>
                          </a:highlight>
                        </a:rPr>
                        <a:t>раннером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чувство</a:t>
                      </a:r>
                      <a:r>
                        <a:rPr lang="ru-RU" sz="1600" dirty="0"/>
                        <a:t>', 'жуков', '</a:t>
                      </a:r>
                      <a:r>
                        <a:rPr lang="ru-RU" sz="1600" dirty="0">
                          <a:highlight>
                            <a:srgbClr val="FF00FF"/>
                          </a:highlight>
                        </a:rPr>
                        <a:t>история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человек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эмоция</a:t>
                      </a:r>
                      <a:r>
                        <a:rPr lang="ru-RU" sz="1600" dirty="0"/>
                        <a:t>', 'танцевальный', '</a:t>
                      </a:r>
                      <a:r>
                        <a:rPr lang="ru-RU" sz="1600" dirty="0">
                          <a:highlight>
                            <a:srgbClr val="008000"/>
                          </a:highlight>
                        </a:rPr>
                        <a:t>исполнитель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FF0000"/>
                          </a:highlight>
                        </a:rPr>
                        <a:t>расставание</a:t>
                      </a:r>
                      <a:r>
                        <a:rPr lang="ru-RU" sz="1600" dirty="0"/>
                        <a:t>', '</a:t>
                      </a:r>
                      <a:r>
                        <a:rPr lang="ru-RU" sz="1600" dirty="0">
                          <a:highlight>
                            <a:srgbClr val="00FF00"/>
                          </a:highlight>
                        </a:rPr>
                        <a:t>площадка</a:t>
                      </a:r>
                      <a:r>
                        <a:rPr lang="ru-RU" sz="1600" dirty="0"/>
                        <a:t>'}</a:t>
                      </a:r>
                      <a:endParaRPr lang="en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9049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E9A14C3-2A08-C366-34B5-88AF679B7661}"/>
              </a:ext>
            </a:extLst>
          </p:cNvPr>
          <p:cNvSpPr txBox="1"/>
          <p:nvPr/>
        </p:nvSpPr>
        <p:spPr>
          <a:xfrm>
            <a:off x="8386010" y="378432"/>
            <a:ext cx="250773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highlight>
                  <a:srgbClr val="00FF00"/>
                </a:highlight>
              </a:rPr>
              <a:t>формальные атрибуты релиза</a:t>
            </a:r>
          </a:p>
          <a:p>
            <a:r>
              <a:rPr lang="ru-RU" sz="1400" dirty="0">
                <a:highlight>
                  <a:srgbClr val="008000"/>
                </a:highlight>
              </a:rPr>
              <a:t>агенты</a:t>
            </a:r>
          </a:p>
          <a:p>
            <a:r>
              <a:rPr lang="ru-RU" sz="1400" dirty="0">
                <a:highlight>
                  <a:srgbClr val="00FFFF"/>
                </a:highlight>
              </a:rPr>
              <a:t>жанры</a:t>
            </a:r>
          </a:p>
          <a:p>
            <a:r>
              <a:rPr lang="ru-RU" sz="1400" dirty="0">
                <a:highlight>
                  <a:srgbClr val="C0C0C0"/>
                </a:highlight>
              </a:rPr>
              <a:t>отсылки</a:t>
            </a:r>
          </a:p>
          <a:p>
            <a:r>
              <a:rPr lang="ru-RU" sz="1400" dirty="0">
                <a:highlight>
                  <a:srgbClr val="FF0000"/>
                </a:highlight>
              </a:rPr>
              <a:t>эмоции и переживания</a:t>
            </a:r>
          </a:p>
          <a:p>
            <a:r>
              <a:rPr lang="ru-RU" sz="1400" dirty="0">
                <a:highlight>
                  <a:srgbClr val="FF00FF"/>
                </a:highlight>
              </a:rPr>
              <a:t>нарратив</a:t>
            </a:r>
          </a:p>
          <a:p>
            <a:r>
              <a:rPr lang="ru-RU" sz="1400" dirty="0">
                <a:highlight>
                  <a:srgbClr val="FFFF00"/>
                </a:highlight>
              </a:rPr>
              <a:t>локация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776FC-D64C-977E-590B-1D8D1A34C76F}"/>
              </a:ext>
            </a:extLst>
          </p:cNvPr>
          <p:cNvSpPr txBox="1"/>
          <p:nvPr/>
        </p:nvSpPr>
        <p:spPr>
          <a:xfrm>
            <a:off x="11093115" y="2505670"/>
            <a:ext cx="1378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Сэмплы</a:t>
            </a:r>
            <a:r>
              <a:rPr lang="ru-RU" dirty="0"/>
              <a:t> «Родного Звука»</a:t>
            </a:r>
            <a:endParaRPr lang="en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02E17-20DA-6B75-5428-7A61497DA3DB}"/>
              </a:ext>
            </a:extLst>
          </p:cNvPr>
          <p:cNvSpPr txBox="1"/>
          <p:nvPr/>
        </p:nvSpPr>
        <p:spPr>
          <a:xfrm>
            <a:off x="11093115" y="4824664"/>
            <a:ext cx="1118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Корпус лейблов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145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A0F6-40D5-CE78-EAD1-4048A9CF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</a:t>
            </a:r>
            <a:br>
              <a:rPr lang="ru-RU" dirty="0"/>
            </a:br>
            <a:r>
              <a:rPr lang="ru-RU" i="1" dirty="0"/>
              <a:t>Главные результаты</a:t>
            </a:r>
            <a:endParaRPr lang="en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8637-FF17-2CCB-1547-2449AED01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Категория локаций среди именованных сущностей в гораздо большей степени характерна для </a:t>
            </a:r>
            <a:r>
              <a:rPr lang="ru-RU" dirty="0" err="1"/>
              <a:t>сэмплов</a:t>
            </a:r>
            <a:r>
              <a:rPr lang="ru-RU" dirty="0"/>
              <a:t> независимого медиа.</a:t>
            </a:r>
          </a:p>
          <a:p>
            <a:r>
              <a:rPr lang="ru-RU" dirty="0"/>
              <a:t>Сравнение распределения лексики указывает на эмоциональный, личностный, нарративный характер стиля корпуса лейблов, в то время как для </a:t>
            </a:r>
            <a:r>
              <a:rPr lang="ru-RU" dirty="0" err="1"/>
              <a:t>сэмплов</a:t>
            </a:r>
            <a:r>
              <a:rPr lang="ru-RU" dirty="0"/>
              <a:t> независимого лейбла более характерны привязка к локации, идентификация артистов через географию, а также упоминание формальных атрибутов музыкальной индустрии.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4886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EEEE-3E8F-B6B1-AC8F-D5B8F4A2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D6EF-06D5-E702-E26B-B931FDE36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6128"/>
            <a:ext cx="9601200" cy="4870704"/>
          </a:xfrm>
        </p:spPr>
        <p:txBody>
          <a:bodyPr/>
          <a:lstStyle/>
          <a:p>
            <a:r>
              <a:rPr lang="ru-RU" sz="1800" b="0" i="0" u="none" strike="noStrike" dirty="0">
                <a:solidFill>
                  <a:srgbClr val="0F1115"/>
                </a:solidFill>
                <a:effectLst/>
              </a:rPr>
              <a:t>Результаты показывают, что дискурс о музыкальных релизах обладает устойчивыми жанровыми характеристиками, отличающими его от новостного: повышенная </a:t>
            </a:r>
            <a:r>
              <a:rPr lang="ru-RU" sz="1800" b="0" i="0" u="none" strike="noStrike" dirty="0" err="1">
                <a:solidFill>
                  <a:srgbClr val="0F1115"/>
                </a:solidFill>
                <a:effectLst/>
              </a:rPr>
              <a:t>оценочность</a:t>
            </a:r>
            <a:r>
              <a:rPr lang="ru-RU" sz="1800" b="0" i="0" u="none" strike="noStrike" dirty="0">
                <a:solidFill>
                  <a:srgbClr val="0F1115"/>
                </a:solidFill>
                <a:effectLst/>
              </a:rPr>
              <a:t> и описательность, эмоциональная насыщенность и специфическая тематическая структура, а также интертекстуальность.</a:t>
            </a:r>
          </a:p>
          <a:p>
            <a:r>
              <a:rPr lang="ru-RU" sz="1800" dirty="0"/>
              <a:t>Внутри дискурса обнаруживается вариативность, обусловленная статусом источника (независимые медиа </a:t>
            </a:r>
            <a:r>
              <a:rPr lang="en-US" sz="1800" dirty="0"/>
              <a:t>VS </a:t>
            </a:r>
            <a:r>
              <a:rPr lang="ru-RU" sz="1800" dirty="0"/>
              <a:t>коммерческая музыка).</a:t>
            </a:r>
          </a:p>
          <a:p>
            <a:pPr lvl="1"/>
            <a:r>
              <a:rPr lang="ru-RU" sz="1800" dirty="0"/>
              <a:t>Независимое медиа склоняется к информационной </a:t>
            </a:r>
            <a:r>
              <a:rPr lang="ru-RU" sz="1800" dirty="0" err="1"/>
              <a:t>контекстуализации</a:t>
            </a:r>
            <a:r>
              <a:rPr lang="ru-RU" sz="1800" dirty="0"/>
              <a:t> новых релизов, акцентируя географию и формальные атрибуты релизов, в то время как публикации о релизах от лейблов формируют более эмоционально насыщенный нарратив.</a:t>
            </a:r>
          </a:p>
          <a:p>
            <a:pPr lvl="1"/>
            <a:r>
              <a:rPr lang="ru-RU" sz="1800" dirty="0"/>
              <a:t>Тем самым, независимое медиа реализует этап дистрибуции музыкального дискурса через контекст (локации, жанры), а лейблы через эмоцию (нарратив, подготавливающий восприятие).</a:t>
            </a:r>
          </a:p>
          <a:p>
            <a:r>
              <a:rPr lang="ru-RU" sz="1800" dirty="0"/>
              <a:t>Зона роста проекта и потенциальные будущие исследования включают улучшение подхода к анализу эмотивной лексики, изучение вариативности по различным музыкальным жанрам и по разным лейблам, анализ динамики дискурса во времени.</a:t>
            </a:r>
          </a:p>
          <a:p>
            <a:pPr marL="530352" lvl="1" indent="0">
              <a:buNone/>
            </a:pPr>
            <a:endParaRPr lang="ru-RU" dirty="0"/>
          </a:p>
          <a:p>
            <a:pPr lvl="1"/>
            <a:endParaRPr lang="ru-RU" dirty="0"/>
          </a:p>
          <a:p>
            <a:pPr lvl="1"/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478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6146-F70A-5614-814E-B80C3EBBB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8E410-7F52-4388-845A-EFA89A79EC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1631950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{4DE1A791-4B23-5549-8FDA-FCE97D49D174}tf10001072</Template>
  <TotalTime>2601</TotalTime>
  <Words>2795</Words>
  <Application>Microsoft Macintosh PowerPoint</Application>
  <PresentationFormat>Widescreen</PresentationFormat>
  <Paragraphs>1019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Franklin Gothic Book</vt:lpstr>
      <vt:lpstr>Helvetica Neue</vt:lpstr>
      <vt:lpstr>Crop</vt:lpstr>
      <vt:lpstr>Дискурсивные практики описания музыкальных релизов: анализ на материале публикаций тематических групп ВКонтакте.</vt:lpstr>
      <vt:lpstr>О музыкальном дискурсе</vt:lpstr>
      <vt:lpstr>PowerPoint Presentation</vt:lpstr>
      <vt:lpstr>О музыкальном дискурсе</vt:lpstr>
      <vt:lpstr>Данные</vt:lpstr>
      <vt:lpstr>PowerPoint Presentation</vt:lpstr>
      <vt:lpstr>Данные</vt:lpstr>
      <vt:lpstr>Дизайн проекта</vt:lpstr>
      <vt:lpstr>Этап 1 Эмотивная лексика</vt:lpstr>
      <vt:lpstr>Этап 1 Главные результаты</vt:lpstr>
      <vt:lpstr>Этап 1  Частеречная разметка</vt:lpstr>
      <vt:lpstr>Этап 1 Облака слов</vt:lpstr>
      <vt:lpstr>Этап 1 Облака слов</vt:lpstr>
      <vt:lpstr>Этап 1 Облака слов</vt:lpstr>
      <vt:lpstr>Этап 1 Главные результаты</vt:lpstr>
      <vt:lpstr>Этап 1 Эмотивная лексика</vt:lpstr>
      <vt:lpstr>Этап 1 Коллокации</vt:lpstr>
      <vt:lpstr>Этап 1 Коллокации</vt:lpstr>
      <vt:lpstr>Этап 1 Коллокации</vt:lpstr>
      <vt:lpstr>Этап 1 Коллокации</vt:lpstr>
      <vt:lpstr>Этап 1 Коллокации</vt:lpstr>
      <vt:lpstr>Этап 1 Главные результаты</vt:lpstr>
      <vt:lpstr>Этап 2 Главные результаты</vt:lpstr>
      <vt:lpstr>Этап 2 TTR</vt:lpstr>
      <vt:lpstr>Этап 2 Эмотивная лексика</vt:lpstr>
      <vt:lpstr>Этап 2 Эмотивная лексика</vt:lpstr>
      <vt:lpstr>Этап 2 Главные результаты</vt:lpstr>
      <vt:lpstr>Этап 2 Синтаксис</vt:lpstr>
      <vt:lpstr>Этап 2 Синтаксис: типы зависимостей</vt:lpstr>
      <vt:lpstr>Этап 2 Главные результаты</vt:lpstr>
      <vt:lpstr>Этап 2 Именованные сущности</vt:lpstr>
      <vt:lpstr>Этап 2 Именованные сущности: категории</vt:lpstr>
      <vt:lpstr>Этап 2 Именованные сущности</vt:lpstr>
      <vt:lpstr>Этап 2 Главные результаты</vt:lpstr>
      <vt:lpstr>Этап 2 Распределение лексики</vt:lpstr>
      <vt:lpstr>Этап 2 Распределение лексики</vt:lpstr>
      <vt:lpstr>Этап 2 Главные результаты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</cp:revision>
  <dcterms:created xsi:type="dcterms:W3CDTF">2026-02-23T16:29:33Z</dcterms:created>
  <dcterms:modified xsi:type="dcterms:W3CDTF">2026-02-25T18:23:20Z</dcterms:modified>
</cp:coreProperties>
</file>